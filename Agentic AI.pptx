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9"/>
  </p:notesMasterIdLst>
  <p:sldIdLst>
    <p:sldId id="281" r:id="rId3"/>
    <p:sldId id="285" r:id="rId4"/>
    <p:sldId id="286" r:id="rId5"/>
    <p:sldId id="287" r:id="rId6"/>
    <p:sldId id="326" r:id="rId7"/>
    <p:sldId id="320" r:id="rId8"/>
    <p:sldId id="257" r:id="rId9"/>
    <p:sldId id="258" r:id="rId10"/>
    <p:sldId id="321" r:id="rId11"/>
    <p:sldId id="322" r:id="rId12"/>
    <p:sldId id="261" r:id="rId13"/>
    <p:sldId id="323" r:id="rId14"/>
    <p:sldId id="324" r:id="rId15"/>
    <p:sldId id="264" r:id="rId16"/>
    <p:sldId id="325" r:id="rId17"/>
    <p:sldId id="266" r:id="rId18"/>
    <p:sldId id="267" r:id="rId19"/>
    <p:sldId id="268" r:id="rId20"/>
    <p:sldId id="269" r:id="rId21"/>
    <p:sldId id="270" r:id="rId22"/>
    <p:sldId id="288" r:id="rId23"/>
    <p:sldId id="291" r:id="rId24"/>
    <p:sldId id="289" r:id="rId25"/>
    <p:sldId id="290" r:id="rId26"/>
    <p:sldId id="292" r:id="rId27"/>
    <p:sldId id="294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75"/>
    <p:restoredTop sz="75123" autoAdjust="0"/>
  </p:normalViewPr>
  <p:slideViewPr>
    <p:cSldViewPr snapToGrid="0" snapToObjects="1">
      <p:cViewPr varScale="1">
        <p:scale>
          <a:sx n="37" d="100"/>
          <a:sy n="37" d="100"/>
        </p:scale>
        <p:origin x="720" y="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Patil" userId="17b6045482c43aa6" providerId="LiveId" clId="{756086BE-A726-42CB-B806-246A9F714B71}"/>
    <pc:docChg chg="delSld modSld">
      <pc:chgData name="Priyanka Patil" userId="17b6045482c43aa6" providerId="LiveId" clId="{756086BE-A726-42CB-B806-246A9F714B71}" dt="2026-09-29T16:01:35.733" v="19" actId="6549"/>
      <pc:docMkLst>
        <pc:docMk/>
      </pc:docMkLst>
      <pc:sldChg chg="del">
        <pc:chgData name="Priyanka Patil" userId="17b6045482c43aa6" providerId="LiveId" clId="{756086BE-A726-42CB-B806-246A9F714B71}" dt="2026-09-29T15:32:33.658" v="2" actId="47"/>
        <pc:sldMkLst>
          <pc:docMk/>
          <pc:sldMk cId="0" sldId="256"/>
        </pc:sldMkLst>
      </pc:sldChg>
      <pc:sldChg chg="modNotesTx">
        <pc:chgData name="Priyanka Patil" userId="17b6045482c43aa6" providerId="LiveId" clId="{756086BE-A726-42CB-B806-246A9F714B71}" dt="2026-09-29T16:01:35.733" v="19" actId="6549"/>
        <pc:sldMkLst>
          <pc:docMk/>
          <pc:sldMk cId="3984527976" sldId="281"/>
        </pc:sldMkLst>
      </pc:sldChg>
      <pc:sldChg chg="modSp mod">
        <pc:chgData name="Priyanka Patil" userId="17b6045482c43aa6" providerId="LiveId" clId="{756086BE-A726-42CB-B806-246A9F714B71}" dt="2026-09-29T15:36:19.427" v="17" actId="20577"/>
        <pc:sldMkLst>
          <pc:docMk/>
          <pc:sldMk cId="3400337135" sldId="287"/>
        </pc:sldMkLst>
        <pc:spChg chg="mod">
          <ac:chgData name="Priyanka Patil" userId="17b6045482c43aa6" providerId="LiveId" clId="{756086BE-A726-42CB-B806-246A9F714B71}" dt="2026-09-29T15:36:07.758" v="7" actId="20577"/>
          <ac:spMkLst>
            <pc:docMk/>
            <pc:sldMk cId="3400337135" sldId="287"/>
            <ac:spMk id="6" creationId="{00000000-0000-0000-0000-000000000000}"/>
          </ac:spMkLst>
        </pc:spChg>
        <pc:spChg chg="mod">
          <ac:chgData name="Priyanka Patil" userId="17b6045482c43aa6" providerId="LiveId" clId="{756086BE-A726-42CB-B806-246A9F714B71}" dt="2026-09-29T15:36:12.735" v="11" actId="20577"/>
          <ac:spMkLst>
            <pc:docMk/>
            <pc:sldMk cId="3400337135" sldId="287"/>
            <ac:spMk id="7" creationId="{00000000-0000-0000-0000-000000000000}"/>
          </ac:spMkLst>
        </pc:spChg>
        <pc:spChg chg="mod">
          <ac:chgData name="Priyanka Patil" userId="17b6045482c43aa6" providerId="LiveId" clId="{756086BE-A726-42CB-B806-246A9F714B71}" dt="2026-09-29T15:36:15.133" v="12" actId="20577"/>
          <ac:spMkLst>
            <pc:docMk/>
            <pc:sldMk cId="3400337135" sldId="287"/>
            <ac:spMk id="9" creationId="{00000000-0000-0000-0000-000000000000}"/>
          </ac:spMkLst>
        </pc:spChg>
        <pc:spChg chg="mod">
          <ac:chgData name="Priyanka Patil" userId="17b6045482c43aa6" providerId="LiveId" clId="{756086BE-A726-42CB-B806-246A9F714B71}" dt="2026-09-29T15:36:19.427" v="17" actId="20577"/>
          <ac:spMkLst>
            <pc:docMk/>
            <pc:sldMk cId="3400337135" sldId="287"/>
            <ac:spMk id="10" creationId="{00000000-0000-0000-0000-000000000000}"/>
          </ac:spMkLst>
        </pc:spChg>
      </pc:sldChg>
      <pc:sldChg chg="del">
        <pc:chgData name="Priyanka Patil" userId="17b6045482c43aa6" providerId="LiveId" clId="{756086BE-A726-42CB-B806-246A9F714B71}" dt="2026-09-29T15:32:31.162" v="0" actId="47"/>
        <pc:sldMkLst>
          <pc:docMk/>
          <pc:sldMk cId="881547751" sldId="298"/>
        </pc:sldMkLst>
      </pc:sldChg>
      <pc:sldChg chg="del">
        <pc:chgData name="Priyanka Patil" userId="17b6045482c43aa6" providerId="LiveId" clId="{756086BE-A726-42CB-B806-246A9F714B71}" dt="2026-09-29T15:32:35.653" v="4" actId="47"/>
        <pc:sldMkLst>
          <pc:docMk/>
          <pc:sldMk cId="463191781" sldId="316"/>
        </pc:sldMkLst>
      </pc:sldChg>
      <pc:sldChg chg="del">
        <pc:chgData name="Priyanka Patil" userId="17b6045482c43aa6" providerId="LiveId" clId="{756086BE-A726-42CB-B806-246A9F714B71}" dt="2026-09-29T15:32:36.166" v="5" actId="47"/>
        <pc:sldMkLst>
          <pc:docMk/>
          <pc:sldMk cId="2043974852" sldId="317"/>
        </pc:sldMkLst>
      </pc:sldChg>
      <pc:sldChg chg="del">
        <pc:chgData name="Priyanka Patil" userId="17b6045482c43aa6" providerId="LiveId" clId="{756086BE-A726-42CB-B806-246A9F714B71}" dt="2026-09-29T15:32:37.092" v="6" actId="47"/>
        <pc:sldMkLst>
          <pc:docMk/>
          <pc:sldMk cId="1137530812" sldId="318"/>
        </pc:sldMkLst>
      </pc:sldChg>
      <pc:sldChg chg="del">
        <pc:chgData name="Priyanka Patil" userId="17b6045482c43aa6" providerId="LiveId" clId="{756086BE-A726-42CB-B806-246A9F714B71}" dt="2026-09-29T15:32:32.630" v="1" actId="47"/>
        <pc:sldMkLst>
          <pc:docMk/>
          <pc:sldMk cId="0" sldId="319"/>
        </pc:sldMkLst>
      </pc:sldChg>
      <pc:sldChg chg="del">
        <pc:chgData name="Priyanka Patil" userId="17b6045482c43aa6" providerId="LiveId" clId="{756086BE-A726-42CB-B806-246A9F714B71}" dt="2026-09-29T15:32:34.930" v="3" actId="47"/>
        <pc:sldMkLst>
          <pc:docMk/>
          <pc:sldMk cId="1480821149" sldId="327"/>
        </pc:sldMkLst>
      </pc:sldChg>
      <pc:sldMasterChg chg="delSldLayout">
        <pc:chgData name="Priyanka Patil" userId="17b6045482c43aa6" providerId="LiveId" clId="{756086BE-A726-42CB-B806-246A9F714B71}" dt="2026-09-29T15:32:31.162" v="0" actId="47"/>
        <pc:sldMasterMkLst>
          <pc:docMk/>
          <pc:sldMasterMk cId="0" sldId="2147483648"/>
        </pc:sldMasterMkLst>
        <pc:sldLayoutChg chg="del">
          <pc:chgData name="Priyanka Patil" userId="17b6045482c43aa6" providerId="LiveId" clId="{756086BE-A726-42CB-B806-246A9F714B71}" dt="2026-09-29T15:32:31.162" v="0" actId="47"/>
          <pc:sldLayoutMkLst>
            <pc:docMk/>
            <pc:sldMasterMk cId="0" sldId="2147483648"/>
            <pc:sldLayoutMk cId="3491282933" sldId="21474836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353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5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These twelve concepts form the complete foundation required to understand and build modern Agentic AI systems.</a:t>
            </a:r>
            <a:r>
              <a:rPr lang="en-US" dirty="0"/>
              <a:t> </a:t>
            </a:r>
            <a:r>
              <a:rPr lang="en-US" b="1" dirty="0"/>
              <a:t>The syllabus progresses from individual agents and tools to multi-agent orchestration, cloud agents, and governance.</a:t>
            </a:r>
            <a:r>
              <a:rPr lang="en-US" dirty="0"/>
              <a:t> </a:t>
            </a:r>
            <a:r>
              <a:rPr lang="en-US" b="1" dirty="0"/>
              <a:t>Together, these concepts provide students with both theoretical understanding and practical engineering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60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laboratory curriculum transforms every theoretical concept into an executable implementation.</a:t>
            </a:r>
            <a:r>
              <a:rPr lang="en-US" dirty="0"/>
              <a:t> </a:t>
            </a:r>
          </a:p>
          <a:p>
            <a:r>
              <a:rPr lang="en-US" b="1" dirty="0"/>
              <a:t>Students progressively build agents, reusable skills, MCP connectors, multi-agent workflows, and complete capstone systems.</a:t>
            </a:r>
            <a:r>
              <a:rPr lang="en-US" dirty="0"/>
              <a:t> </a:t>
            </a:r>
          </a:p>
          <a:p>
            <a:r>
              <a:rPr lang="en-US" b="1" dirty="0"/>
              <a:t>By the end of the semester, every student develops a real-world Agentic AI solution rather than isolated laboratory exercises.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90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err="1"/>
              <a:t>worklet</a:t>
            </a:r>
            <a:r>
              <a:rPr lang="en-US" b="1" dirty="0"/>
              <a:t>-based model enables scalable delivery while ensuring every student receives meaningful hands-on experience.</a:t>
            </a:r>
            <a:r>
              <a:rPr lang="en-US" dirty="0"/>
              <a:t> </a:t>
            </a:r>
            <a:r>
              <a:rPr lang="en-US" b="1" dirty="0"/>
              <a:t>Assessment is based on working artifacts such as tool execution, prompt traces, evaluations, and demonstrations rather than theory alone.</a:t>
            </a:r>
            <a:r>
              <a:rPr lang="en-US" dirty="0"/>
              <a:t> </a:t>
            </a:r>
            <a:r>
              <a:rPr lang="en-US" b="1" dirty="0"/>
              <a:t>This evaluation methodology closely reflects current industry expectations for AI engineers.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88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 demonstrate the practical application of Agentic AI, this slide presents an academic automation use case for question paper generation.</a:t>
            </a:r>
            <a:r>
              <a:rPr lang="en-US" dirty="0"/>
              <a:t> </a:t>
            </a:r>
          </a:p>
          <a:p>
            <a:r>
              <a:rPr lang="en-US" b="1" dirty="0"/>
              <a:t>The proposed system assists faculty by coordinating multiple specialized agents while ensuring faculty approval remains mandatory.</a:t>
            </a:r>
            <a:r>
              <a:rPr lang="en-US" dirty="0"/>
              <a:t> </a:t>
            </a:r>
          </a:p>
          <a:p>
            <a:r>
              <a:rPr lang="en-US" b="1" dirty="0"/>
              <a:t>This illustrates how Agentic AI can improve productivity without replacing academic decision-making.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44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node graph visually represents the communication and coordination between specialized agents.</a:t>
            </a:r>
            <a:r>
              <a:rPr lang="en-US" dirty="0"/>
              <a:t> </a:t>
            </a:r>
          </a:p>
          <a:p>
            <a:r>
              <a:rPr lang="en-US" b="1" dirty="0"/>
              <a:t>It highlights how complex academic workflows can be modularized into smaller, manageable agent responsibilities.</a:t>
            </a:r>
            <a:r>
              <a:rPr lang="en-US" dirty="0"/>
              <a:t> </a:t>
            </a:r>
          </a:p>
          <a:p>
            <a:r>
              <a:rPr lang="en-US" b="1" dirty="0"/>
              <a:t>This architecture also introduces students to graph-based orchestration used in modern Agentic AI frameworks.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723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quality of any agentic system depends on structured and validated inputs.</a:t>
            </a:r>
            <a:r>
              <a:rPr lang="en-US" dirty="0"/>
              <a:t> </a:t>
            </a:r>
            <a:r>
              <a:rPr lang="en-US" b="1" dirty="0"/>
              <a:t>This framework combines an approved question bank with configurable academic criteria to ensure consistency and transparency.</a:t>
            </a:r>
            <a:r>
              <a:rPr lang="en-US" dirty="0"/>
              <a:t> </a:t>
            </a:r>
            <a:r>
              <a:rPr lang="en-US" b="1" dirty="0"/>
              <a:t>Such structured inputs enable reliable and repeatable automation while maintaining institutional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468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This slide demonstrates how multiple specialized agents collaborate to complete a complex workflow.</a:t>
            </a:r>
            <a:r>
              <a:rPr lang="en-US" dirty="0"/>
              <a:t> </a:t>
            </a:r>
            <a:r>
              <a:rPr lang="en-US" b="1" dirty="0"/>
              <a:t>Each agent performs a dedicated responsibility, while the coordinator manages execution and exception handling.</a:t>
            </a:r>
            <a:r>
              <a:rPr lang="en-US" dirty="0"/>
              <a:t> </a:t>
            </a:r>
            <a:r>
              <a:rPr lang="en-US" b="1" dirty="0"/>
              <a:t>The pipeline illustrates the practical implementation of multi-agent orchestration introduced earlier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86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Responsible AI is a core theme throughout this course, not an afterthought.</a:t>
            </a:r>
            <a:r>
              <a:rPr lang="en-US" dirty="0"/>
              <a:t> </a:t>
            </a:r>
            <a:r>
              <a:rPr lang="en-US" b="1" dirty="0"/>
              <a:t>The proposed guardrails ensure transparency, faculty control, security, and ethical deployment of autonomous agents.</a:t>
            </a:r>
            <a:r>
              <a:rPr lang="en-US" dirty="0"/>
              <a:t> </a:t>
            </a:r>
            <a:r>
              <a:rPr lang="en-US" b="1" dirty="0"/>
              <a:t>The phased roadmap demonstrates how students can gradually evolve a simple agent into an institution-scale intelligent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0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228600" y="929307"/>
            <a:ext cx="116586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784" y="140073"/>
            <a:ext cx="704416" cy="6934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085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77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54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922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03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51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60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37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54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61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13991-6BA6-4074-BDAA-8838CE4177B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77E4E-8256-48EC-B7CC-7AE3ED43C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78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B4D948-D93D-67DF-F424-D6AC6161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62" y="3767329"/>
            <a:ext cx="11761076" cy="3105822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00351" y="1925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Prompting to Execution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8952" y="3205651"/>
            <a:ext cx="1901952" cy="777240"/>
          </a:xfrm>
          <a:prstGeom prst="roundRect">
            <a:avLst>
              <a:gd name="adj" fmla="val 9412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3E4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3205651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660904" y="3205651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916936" y="3205651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2B3760"/>
          </a:solidFill>
          <a:ln w="12700">
            <a:solidFill>
              <a:srgbClr val="3E4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3205651"/>
            <a:ext cx="1901952" cy="7772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818888" y="3205651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74920" y="3205651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2B3760"/>
          </a:solidFill>
          <a:ln w="12700">
            <a:solidFill>
              <a:srgbClr val="3E4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3205651"/>
            <a:ext cx="1901952" cy="7772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76872" y="3205651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232904" y="3205651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2B3760"/>
          </a:solidFill>
          <a:ln w="12700">
            <a:solidFill>
              <a:srgbClr val="3E4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2904" y="3205651"/>
            <a:ext cx="1901952" cy="7772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34856" y="3205651"/>
            <a:ext cx="256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390888" y="3205651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2B3760"/>
          </a:solidFill>
          <a:ln w="12700">
            <a:solidFill>
              <a:srgbClr val="3E4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3205651"/>
            <a:ext cx="1901952" cy="777240"/>
          </a:xfrm>
          <a:prstGeom prst="rect">
            <a:avLst/>
          </a:prstGeom>
          <a:solidFill>
            <a:schemeClr val="accent4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600351" y="2528213"/>
            <a:ext cx="3237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33CC"/>
                </a:solidFill>
              </a:rPr>
              <a:t>Course Structure (2-0-1)</a:t>
            </a:r>
            <a:endParaRPr lang="en-IN" sz="2400" b="1" dirty="0">
              <a:solidFill>
                <a:srgbClr val="0033CC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582649" y="325549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&amp; LABAROTARY PLAN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82649" y="563293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5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52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1480" y="1037137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46865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6072" y="1448617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Plans, acts, observes, and revises to pursue a goal — not just replies.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4206240" y="1037137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0832" y="1146865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Tools &amp; Function Calling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70832" y="1448617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Callable capabilities: functions, APIs, DB queries, file ops, deploys.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8001000" y="1037137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146865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Skills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65592" y="1448617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capability packages: instructions, workflow, examples, constraints.</a:t>
            </a:r>
            <a:endParaRPr lang="en-US" sz="1600" b="1" dirty="0"/>
          </a:p>
        </p:txBody>
      </p:sp>
      <p:sp>
        <p:nvSpPr>
          <p:cNvPr id="13" name="Shape 11"/>
          <p:cNvSpPr/>
          <p:nvPr/>
        </p:nvSpPr>
        <p:spPr>
          <a:xfrm>
            <a:off x="411480" y="2518465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628193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Memory &amp; Context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6072" y="2929945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state, long-term storage, and controlled retrieval.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4206240" y="2518465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628193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MCP Connector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70832" y="2929945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for connecting agents to external systems and data.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8001000" y="2518465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5592" y="2628193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OpenCLA/OpenClaw Runtime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65592" y="2929945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runtime, skills, tools, memory, and audit logs.</a:t>
            </a:r>
            <a:endParaRPr lang="en-US" sz="1600" b="1" dirty="0"/>
          </a:p>
        </p:txBody>
      </p:sp>
      <p:sp>
        <p:nvSpPr>
          <p:cNvPr id="22" name="Shape 20"/>
          <p:cNvSpPr/>
          <p:nvPr/>
        </p:nvSpPr>
        <p:spPr>
          <a:xfrm>
            <a:off x="411480" y="3999793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109521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Node Graphs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6072" y="4411273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stages: agents, decisions, parallel branches, human gates.</a:t>
            </a:r>
            <a:endParaRPr lang="en-US" sz="1600" b="1" dirty="0"/>
          </a:p>
        </p:txBody>
      </p:sp>
      <p:sp>
        <p:nvSpPr>
          <p:cNvPr id="25" name="Shape 23"/>
          <p:cNvSpPr/>
          <p:nvPr/>
        </p:nvSpPr>
        <p:spPr>
          <a:xfrm>
            <a:off x="4206240" y="3999793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4109521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Parallel Swarms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70832" y="4411273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role-based agents; merge, critique, resolve conflicts.</a:t>
            </a:r>
            <a:endParaRPr lang="en-US" sz="1600" b="1" dirty="0"/>
          </a:p>
        </p:txBody>
      </p:sp>
      <p:sp>
        <p:nvSpPr>
          <p:cNvPr id="28" name="Shape 26"/>
          <p:cNvSpPr/>
          <p:nvPr/>
        </p:nvSpPr>
        <p:spPr>
          <a:xfrm>
            <a:off x="8001000" y="3999793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65592" y="4109521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Deep Research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65592" y="4411273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loop: question, search, extract, compare, synthesize.</a:t>
            </a:r>
            <a:endParaRPr lang="en-US" sz="1600" b="1" dirty="0"/>
          </a:p>
        </p:txBody>
      </p:sp>
      <p:sp>
        <p:nvSpPr>
          <p:cNvPr id="31" name="Shape 29"/>
          <p:cNvSpPr/>
          <p:nvPr/>
        </p:nvSpPr>
        <p:spPr>
          <a:xfrm>
            <a:off x="411480" y="5481121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5590849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Cloud Agents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6072" y="5892601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Observe infra signals, reason on causes, act with approval gates.</a:t>
            </a:r>
            <a:endParaRPr lang="en-US" sz="1600" b="1" dirty="0"/>
          </a:p>
        </p:txBody>
      </p:sp>
      <p:sp>
        <p:nvSpPr>
          <p:cNvPr id="34" name="Shape 32"/>
          <p:cNvSpPr/>
          <p:nvPr/>
        </p:nvSpPr>
        <p:spPr>
          <a:xfrm>
            <a:off x="4206240" y="5481121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5590849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Agentic SDLC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70832" y="5892601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Agent-run stages from requirements to monitoring; humans decide.</a:t>
            </a:r>
            <a:endParaRPr lang="en-US" sz="1600" b="1" dirty="0"/>
          </a:p>
        </p:txBody>
      </p:sp>
      <p:sp>
        <p:nvSpPr>
          <p:cNvPr id="37" name="Shape 35"/>
          <p:cNvSpPr/>
          <p:nvPr/>
        </p:nvSpPr>
        <p:spPr>
          <a:xfrm>
            <a:off x="8001000" y="5481121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65592" y="5590849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Responsible Autonomy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165592" y="5892601"/>
            <a:ext cx="3328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approval, evaluation, audit logs, rollback, privacy.</a:t>
            </a:r>
            <a:endParaRPr lang="en-US" sz="1600" b="1" dirty="0"/>
          </a:p>
        </p:txBody>
      </p:sp>
      <p:grpSp>
        <p:nvGrpSpPr>
          <p:cNvPr id="42" name="Group 41"/>
          <p:cNvGrpSpPr/>
          <p:nvPr/>
        </p:nvGrpSpPr>
        <p:grpSpPr>
          <a:xfrm>
            <a:off x="182880" y="140073"/>
            <a:ext cx="11704320" cy="809213"/>
            <a:chOff x="182880" y="140073"/>
            <a:chExt cx="11704320" cy="809213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228600" y="929307"/>
              <a:ext cx="11658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82784" y="140073"/>
              <a:ext cx="704416" cy="693410"/>
            </a:xfrm>
            <a:prstGeom prst="rect">
              <a:avLst/>
            </a:prstGeom>
          </p:spPr>
        </p:pic>
        <p:sp>
          <p:nvSpPr>
            <p:cNvPr id="45" name="Text 0"/>
            <p:cNvSpPr/>
            <p:nvPr/>
          </p:nvSpPr>
          <p:spPr>
            <a:xfrm>
              <a:off x="182880" y="168504"/>
              <a:ext cx="7315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kern="0" spc="150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CONCEPTS 1-12 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6" name="Text 1"/>
            <p:cNvSpPr/>
            <p:nvPr/>
          </p:nvSpPr>
          <p:spPr>
            <a:xfrm>
              <a:off x="182880" y="400646"/>
              <a:ext cx="112471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solidFill>
                    <a:srgbClr val="0033CC"/>
                  </a:solidFill>
                  <a:latin typeface="Book Antiqua" panose="02040602050305030304" pitchFamily="18" charset="0"/>
                  <a:ea typeface="Georgia" pitchFamily="34" charset="-122"/>
                  <a:cs typeface="Georgia" pitchFamily="34" charset="-120"/>
                </a:rPr>
                <a:t>Twelve Core Concepts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635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182880" y="140073"/>
            <a:ext cx="11704320" cy="809213"/>
            <a:chOff x="182880" y="140073"/>
            <a:chExt cx="11704320" cy="809213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228600" y="929307"/>
              <a:ext cx="11658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82784" y="140073"/>
              <a:ext cx="704416" cy="693410"/>
            </a:xfrm>
            <a:prstGeom prst="rect">
              <a:avLst/>
            </a:prstGeom>
          </p:spPr>
        </p:pic>
        <p:sp>
          <p:nvSpPr>
            <p:cNvPr id="45" name="Text 0"/>
            <p:cNvSpPr/>
            <p:nvPr/>
          </p:nvSpPr>
          <p:spPr>
            <a:xfrm>
              <a:off x="182880" y="168504"/>
              <a:ext cx="7315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kern="0" spc="150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 HANDS ON LAB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6" name="Text 1"/>
            <p:cNvSpPr/>
            <p:nvPr/>
          </p:nvSpPr>
          <p:spPr>
            <a:xfrm>
              <a:off x="182880" y="400646"/>
              <a:ext cx="112471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solidFill>
                    <a:srgbClr val="0033CC"/>
                  </a:solidFill>
                  <a:latin typeface="Book Antiqua" panose="02040602050305030304" pitchFamily="18" charset="0"/>
                  <a:ea typeface="Georgia" pitchFamily="34" charset="-122"/>
                  <a:cs typeface="Georgia" pitchFamily="34" charset="-120"/>
                </a:rPr>
                <a:t>Lab Curriculum</a:t>
              </a:r>
            </a:p>
          </p:txBody>
        </p:sp>
      </p:grpSp>
      <p:sp>
        <p:nvSpPr>
          <p:cNvPr id="47" name="Shape 3"/>
          <p:cNvSpPr/>
          <p:nvPr/>
        </p:nvSpPr>
        <p:spPr>
          <a:xfrm>
            <a:off x="329184" y="1065625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48" name="Text 4"/>
          <p:cNvSpPr/>
          <p:nvPr/>
        </p:nvSpPr>
        <p:spPr>
          <a:xfrm>
            <a:off x="457200" y="1157065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dirty="0"/>
          </a:p>
        </p:txBody>
      </p:sp>
      <p:sp>
        <p:nvSpPr>
          <p:cNvPr id="49" name="Text 5"/>
          <p:cNvSpPr/>
          <p:nvPr/>
        </p:nvSpPr>
        <p:spPr>
          <a:xfrm>
            <a:off x="457200" y="1358233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Chatbot</a:t>
            </a:r>
            <a:endParaRPr lang="en-US" dirty="0"/>
          </a:p>
        </p:txBody>
      </p:sp>
      <p:sp>
        <p:nvSpPr>
          <p:cNvPr id="50" name="Text 6"/>
          <p:cNvSpPr/>
          <p:nvPr/>
        </p:nvSpPr>
        <p:spPr>
          <a:xfrm>
            <a:off x="457200" y="1760569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planner: clarify, plan, revise</a:t>
            </a:r>
            <a:endParaRPr lang="en-US" sz="1600" dirty="0"/>
          </a:p>
        </p:txBody>
      </p:sp>
      <p:sp>
        <p:nvSpPr>
          <p:cNvPr id="51" name="Shape 7"/>
          <p:cNvSpPr/>
          <p:nvPr/>
        </p:nvSpPr>
        <p:spPr>
          <a:xfrm>
            <a:off x="3191256" y="1065625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2" name="Text 8"/>
          <p:cNvSpPr/>
          <p:nvPr/>
        </p:nvSpPr>
        <p:spPr>
          <a:xfrm>
            <a:off x="3319272" y="1157065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dirty="0"/>
          </a:p>
        </p:txBody>
      </p:sp>
      <p:sp>
        <p:nvSpPr>
          <p:cNvPr id="53" name="Text 9"/>
          <p:cNvSpPr/>
          <p:nvPr/>
        </p:nvSpPr>
        <p:spPr>
          <a:xfrm>
            <a:off x="3319272" y="1358233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Agent</a:t>
            </a:r>
            <a:endParaRPr lang="en-US" dirty="0"/>
          </a:p>
        </p:txBody>
      </p:sp>
      <p:sp>
        <p:nvSpPr>
          <p:cNvPr id="54" name="Text 10"/>
          <p:cNvSpPr/>
          <p:nvPr/>
        </p:nvSpPr>
        <p:spPr>
          <a:xfrm>
            <a:off x="3319272" y="1760569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Calculator, file reader, mock API</a:t>
            </a:r>
            <a:endParaRPr lang="en-US" sz="1600" dirty="0"/>
          </a:p>
        </p:txBody>
      </p:sp>
      <p:sp>
        <p:nvSpPr>
          <p:cNvPr id="55" name="Shape 11"/>
          <p:cNvSpPr/>
          <p:nvPr/>
        </p:nvSpPr>
        <p:spPr>
          <a:xfrm>
            <a:off x="6053328" y="1065625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6" name="Text 12"/>
          <p:cNvSpPr/>
          <p:nvPr/>
        </p:nvSpPr>
        <p:spPr>
          <a:xfrm>
            <a:off x="6181344" y="1157065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dirty="0"/>
          </a:p>
        </p:txBody>
      </p:sp>
      <p:sp>
        <p:nvSpPr>
          <p:cNvPr id="57" name="Text 13"/>
          <p:cNvSpPr/>
          <p:nvPr/>
        </p:nvSpPr>
        <p:spPr>
          <a:xfrm>
            <a:off x="6181344" y="1358233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Creation</a:t>
            </a:r>
            <a:endParaRPr lang="en-US" dirty="0"/>
          </a:p>
        </p:txBody>
      </p:sp>
      <p:sp>
        <p:nvSpPr>
          <p:cNvPr id="58" name="Text 14"/>
          <p:cNvSpPr/>
          <p:nvPr/>
        </p:nvSpPr>
        <p:spPr>
          <a:xfrm>
            <a:off x="6181344" y="1760569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research-summary skill</a:t>
            </a:r>
            <a:endParaRPr lang="en-US" sz="1600" dirty="0"/>
          </a:p>
        </p:txBody>
      </p:sp>
      <p:sp>
        <p:nvSpPr>
          <p:cNvPr id="59" name="Shape 15"/>
          <p:cNvSpPr/>
          <p:nvPr/>
        </p:nvSpPr>
        <p:spPr>
          <a:xfrm>
            <a:off x="8915400" y="1065625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60" name="Text 16"/>
          <p:cNvSpPr/>
          <p:nvPr/>
        </p:nvSpPr>
        <p:spPr>
          <a:xfrm>
            <a:off x="9043416" y="1157065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dirty="0"/>
          </a:p>
        </p:txBody>
      </p:sp>
      <p:sp>
        <p:nvSpPr>
          <p:cNvPr id="61" name="Text 17"/>
          <p:cNvSpPr/>
          <p:nvPr/>
        </p:nvSpPr>
        <p:spPr>
          <a:xfrm>
            <a:off x="9043416" y="1358233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Retrieval</a:t>
            </a:r>
            <a:endParaRPr lang="en-US" dirty="0"/>
          </a:p>
        </p:txBody>
      </p:sp>
      <p:sp>
        <p:nvSpPr>
          <p:cNvPr id="62" name="Text 18"/>
          <p:cNvSpPr/>
          <p:nvPr/>
        </p:nvSpPr>
        <p:spPr>
          <a:xfrm>
            <a:off x="9043416" y="1760569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vs. stored reference</a:t>
            </a:r>
            <a:endParaRPr lang="en-US" sz="1600" dirty="0"/>
          </a:p>
        </p:txBody>
      </p:sp>
      <p:sp>
        <p:nvSpPr>
          <p:cNvPr id="63" name="Shape 19"/>
          <p:cNvSpPr/>
          <p:nvPr/>
        </p:nvSpPr>
        <p:spPr>
          <a:xfrm>
            <a:off x="329184" y="2327497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64" name="Text 20"/>
          <p:cNvSpPr/>
          <p:nvPr/>
        </p:nvSpPr>
        <p:spPr>
          <a:xfrm>
            <a:off x="457200" y="2418937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dirty="0"/>
          </a:p>
        </p:txBody>
      </p:sp>
      <p:sp>
        <p:nvSpPr>
          <p:cNvPr id="65" name="Text 21"/>
          <p:cNvSpPr/>
          <p:nvPr/>
        </p:nvSpPr>
        <p:spPr>
          <a:xfrm>
            <a:off x="457200" y="2620105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MCP-Style Connector</a:t>
            </a:r>
            <a:endParaRPr lang="en-US" dirty="0"/>
          </a:p>
        </p:txBody>
      </p:sp>
      <p:sp>
        <p:nvSpPr>
          <p:cNvPr id="66" name="Text 22"/>
          <p:cNvSpPr/>
          <p:nvPr/>
        </p:nvSpPr>
        <p:spPr>
          <a:xfrm>
            <a:off x="457200" y="3022441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SQLite, and API via one server</a:t>
            </a:r>
            <a:endParaRPr lang="en-US" sz="1600" dirty="0"/>
          </a:p>
        </p:txBody>
      </p:sp>
      <p:sp>
        <p:nvSpPr>
          <p:cNvPr id="67" name="Shape 23"/>
          <p:cNvSpPr/>
          <p:nvPr/>
        </p:nvSpPr>
        <p:spPr>
          <a:xfrm>
            <a:off x="3191256" y="2327497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68" name="Text 24"/>
          <p:cNvSpPr/>
          <p:nvPr/>
        </p:nvSpPr>
        <p:spPr>
          <a:xfrm>
            <a:off x="3319272" y="2356471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</a:t>
            </a:r>
            <a:endParaRPr lang="en-US" dirty="0"/>
          </a:p>
        </p:txBody>
      </p:sp>
      <p:sp>
        <p:nvSpPr>
          <p:cNvPr id="69" name="Text 25"/>
          <p:cNvSpPr/>
          <p:nvPr/>
        </p:nvSpPr>
        <p:spPr>
          <a:xfrm>
            <a:off x="3119494" y="2524840"/>
            <a:ext cx="2933833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OpenCLA/OpenClaw Runtime</a:t>
            </a:r>
            <a:endParaRPr lang="en-US" sz="1700" dirty="0"/>
          </a:p>
        </p:txBody>
      </p:sp>
      <p:sp>
        <p:nvSpPr>
          <p:cNvPr id="70" name="Text 26"/>
          <p:cNvSpPr/>
          <p:nvPr/>
        </p:nvSpPr>
        <p:spPr>
          <a:xfrm>
            <a:off x="3319272" y="3068161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tools, memory, audit log</a:t>
            </a:r>
            <a:endParaRPr lang="en-US" sz="1600" dirty="0"/>
          </a:p>
        </p:txBody>
      </p:sp>
      <p:sp>
        <p:nvSpPr>
          <p:cNvPr id="71" name="Shape 27"/>
          <p:cNvSpPr/>
          <p:nvPr/>
        </p:nvSpPr>
        <p:spPr>
          <a:xfrm>
            <a:off x="6053328" y="2327497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2" name="Text 28"/>
          <p:cNvSpPr/>
          <p:nvPr/>
        </p:nvSpPr>
        <p:spPr>
          <a:xfrm>
            <a:off x="6181344" y="2418937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</a:t>
            </a:r>
            <a:endParaRPr lang="en-US" dirty="0"/>
          </a:p>
        </p:txBody>
      </p:sp>
      <p:sp>
        <p:nvSpPr>
          <p:cNvPr id="73" name="Text 29"/>
          <p:cNvSpPr/>
          <p:nvPr/>
        </p:nvSpPr>
        <p:spPr>
          <a:xfrm>
            <a:off x="6181344" y="2620105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Node Graph</a:t>
            </a:r>
            <a:endParaRPr lang="en-US" dirty="0"/>
          </a:p>
        </p:txBody>
      </p:sp>
      <p:sp>
        <p:nvSpPr>
          <p:cNvPr id="74" name="Text 30"/>
          <p:cNvSpPr/>
          <p:nvPr/>
        </p:nvSpPr>
        <p:spPr>
          <a:xfrm>
            <a:off x="6181344" y="3022441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app: req → design → release</a:t>
            </a:r>
            <a:endParaRPr lang="en-US" sz="1600" dirty="0"/>
          </a:p>
        </p:txBody>
      </p:sp>
      <p:sp>
        <p:nvSpPr>
          <p:cNvPr id="75" name="Shape 31"/>
          <p:cNvSpPr/>
          <p:nvPr/>
        </p:nvSpPr>
        <p:spPr>
          <a:xfrm>
            <a:off x="8915400" y="2327497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6" name="Text 32"/>
          <p:cNvSpPr/>
          <p:nvPr/>
        </p:nvSpPr>
        <p:spPr>
          <a:xfrm>
            <a:off x="9043416" y="2418937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</a:t>
            </a:r>
            <a:endParaRPr lang="en-US" dirty="0"/>
          </a:p>
        </p:txBody>
      </p:sp>
      <p:sp>
        <p:nvSpPr>
          <p:cNvPr id="77" name="Text 33"/>
          <p:cNvSpPr/>
          <p:nvPr/>
        </p:nvSpPr>
        <p:spPr>
          <a:xfrm>
            <a:off x="9043416" y="2620105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Swarm</a:t>
            </a:r>
            <a:endParaRPr lang="en-US" dirty="0"/>
          </a:p>
        </p:txBody>
      </p:sp>
      <p:sp>
        <p:nvSpPr>
          <p:cNvPr id="78" name="Text 34"/>
          <p:cNvSpPr/>
          <p:nvPr/>
        </p:nvSpPr>
        <p:spPr>
          <a:xfrm>
            <a:off x="9043416" y="3022441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planner, 4 roles, merge</a:t>
            </a:r>
            <a:endParaRPr lang="en-US" sz="1600" dirty="0"/>
          </a:p>
        </p:txBody>
      </p:sp>
      <p:sp>
        <p:nvSpPr>
          <p:cNvPr id="79" name="Shape 35"/>
          <p:cNvSpPr/>
          <p:nvPr/>
        </p:nvSpPr>
        <p:spPr>
          <a:xfrm>
            <a:off x="329184" y="3589369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0" name="Text 36"/>
          <p:cNvSpPr/>
          <p:nvPr/>
        </p:nvSpPr>
        <p:spPr>
          <a:xfrm>
            <a:off x="457200" y="3680809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</a:t>
            </a:r>
            <a:endParaRPr lang="en-US" dirty="0"/>
          </a:p>
        </p:txBody>
      </p:sp>
      <p:sp>
        <p:nvSpPr>
          <p:cNvPr id="81" name="Text 37"/>
          <p:cNvSpPr/>
          <p:nvPr/>
        </p:nvSpPr>
        <p:spPr>
          <a:xfrm>
            <a:off x="457200" y="3881977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</a:t>
            </a:r>
            <a:endParaRPr lang="en-US" dirty="0"/>
          </a:p>
        </p:txBody>
      </p:sp>
      <p:sp>
        <p:nvSpPr>
          <p:cNvPr id="82" name="Text 38"/>
          <p:cNvSpPr/>
          <p:nvPr/>
        </p:nvSpPr>
        <p:spPr>
          <a:xfrm>
            <a:off x="457200" y="4284313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topic briefing, evidence table</a:t>
            </a:r>
            <a:endParaRPr lang="en-US" sz="1600" dirty="0"/>
          </a:p>
        </p:txBody>
      </p:sp>
      <p:sp>
        <p:nvSpPr>
          <p:cNvPr id="83" name="Shape 39"/>
          <p:cNvSpPr/>
          <p:nvPr/>
        </p:nvSpPr>
        <p:spPr>
          <a:xfrm>
            <a:off x="3191256" y="3589369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4" name="Text 40"/>
          <p:cNvSpPr/>
          <p:nvPr/>
        </p:nvSpPr>
        <p:spPr>
          <a:xfrm>
            <a:off x="3319272" y="3680809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10</a:t>
            </a:r>
            <a:endParaRPr lang="en-US" dirty="0"/>
          </a:p>
        </p:txBody>
      </p:sp>
      <p:sp>
        <p:nvSpPr>
          <p:cNvPr id="85" name="Text 41"/>
          <p:cNvSpPr/>
          <p:nvPr/>
        </p:nvSpPr>
        <p:spPr>
          <a:xfrm>
            <a:off x="3319272" y="3881977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Operations Agent</a:t>
            </a:r>
            <a:endParaRPr lang="en-US" dirty="0"/>
          </a:p>
        </p:txBody>
      </p:sp>
      <p:sp>
        <p:nvSpPr>
          <p:cNvPr id="86" name="Text 42"/>
          <p:cNvSpPr/>
          <p:nvPr/>
        </p:nvSpPr>
        <p:spPr>
          <a:xfrm>
            <a:off x="3319272" y="4284313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deployment: diagnose &amp; fix</a:t>
            </a:r>
            <a:endParaRPr lang="en-US" sz="1600" dirty="0"/>
          </a:p>
        </p:txBody>
      </p:sp>
      <p:sp>
        <p:nvSpPr>
          <p:cNvPr id="87" name="Shape 43"/>
          <p:cNvSpPr/>
          <p:nvPr/>
        </p:nvSpPr>
        <p:spPr>
          <a:xfrm>
            <a:off x="6053328" y="3589369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8" name="Text 44"/>
          <p:cNvSpPr/>
          <p:nvPr/>
        </p:nvSpPr>
        <p:spPr>
          <a:xfrm>
            <a:off x="6181344" y="3680809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11</a:t>
            </a:r>
            <a:endParaRPr lang="en-US" dirty="0"/>
          </a:p>
        </p:txBody>
      </p:sp>
      <p:sp>
        <p:nvSpPr>
          <p:cNvPr id="89" name="Text 45"/>
          <p:cNvSpPr/>
          <p:nvPr/>
        </p:nvSpPr>
        <p:spPr>
          <a:xfrm>
            <a:off x="6181344" y="3881977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Factory</a:t>
            </a:r>
            <a:endParaRPr lang="en-US" dirty="0"/>
          </a:p>
        </p:txBody>
      </p:sp>
      <p:sp>
        <p:nvSpPr>
          <p:cNvPr id="90" name="Text 46"/>
          <p:cNvSpPr/>
          <p:nvPr/>
        </p:nvSpPr>
        <p:spPr>
          <a:xfrm>
            <a:off x="6181344" y="4284313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tested implementation</a:t>
            </a:r>
            <a:endParaRPr lang="en-US" sz="1600" dirty="0"/>
          </a:p>
        </p:txBody>
      </p:sp>
      <p:sp>
        <p:nvSpPr>
          <p:cNvPr id="91" name="Shape 47"/>
          <p:cNvSpPr/>
          <p:nvPr/>
        </p:nvSpPr>
        <p:spPr>
          <a:xfrm>
            <a:off x="8915400" y="3589369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92" name="Text 48"/>
          <p:cNvSpPr/>
          <p:nvPr/>
        </p:nvSpPr>
        <p:spPr>
          <a:xfrm>
            <a:off x="9043416" y="3680809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12</a:t>
            </a:r>
            <a:endParaRPr lang="en-US" dirty="0"/>
          </a:p>
        </p:txBody>
      </p:sp>
      <p:sp>
        <p:nvSpPr>
          <p:cNvPr id="93" name="Text 49"/>
          <p:cNvSpPr/>
          <p:nvPr/>
        </p:nvSpPr>
        <p:spPr>
          <a:xfrm>
            <a:off x="9043416" y="3881977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Governance</a:t>
            </a:r>
            <a:endParaRPr lang="en-US" dirty="0"/>
          </a:p>
        </p:txBody>
      </p:sp>
      <p:sp>
        <p:nvSpPr>
          <p:cNvPr id="94" name="Text 50"/>
          <p:cNvSpPr/>
          <p:nvPr/>
        </p:nvSpPr>
        <p:spPr>
          <a:xfrm>
            <a:off x="9043416" y="4284313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approval, eval, rollback plan</a:t>
            </a:r>
            <a:endParaRPr lang="en-US" sz="1600" dirty="0"/>
          </a:p>
        </p:txBody>
      </p:sp>
      <p:sp>
        <p:nvSpPr>
          <p:cNvPr id="95" name="Shape 51"/>
          <p:cNvSpPr/>
          <p:nvPr/>
        </p:nvSpPr>
        <p:spPr>
          <a:xfrm>
            <a:off x="329184" y="4851241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96" name="Text 52"/>
          <p:cNvSpPr/>
          <p:nvPr/>
        </p:nvSpPr>
        <p:spPr>
          <a:xfrm>
            <a:off x="457200" y="4942681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13</a:t>
            </a:r>
            <a:endParaRPr lang="en-US" dirty="0"/>
          </a:p>
        </p:txBody>
      </p:sp>
      <p:sp>
        <p:nvSpPr>
          <p:cNvPr id="97" name="Text 53"/>
          <p:cNvSpPr/>
          <p:nvPr/>
        </p:nvSpPr>
        <p:spPr>
          <a:xfrm>
            <a:off x="457200" y="5189569"/>
            <a:ext cx="2862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Discipline-Specific Agents</a:t>
            </a:r>
            <a:endParaRPr lang="en-US" dirty="0"/>
          </a:p>
        </p:txBody>
      </p:sp>
      <p:sp>
        <p:nvSpPr>
          <p:cNvPr id="98" name="Text 54"/>
          <p:cNvSpPr/>
          <p:nvPr/>
        </p:nvSpPr>
        <p:spPr>
          <a:xfrm>
            <a:off x="457200" y="5546185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/ CE / EE domain </a:t>
            </a:r>
            <a:r>
              <a:rPr lang="en-US" sz="1600" dirty="0" err="1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</a:t>
            </a:r>
            <a:endParaRPr lang="en-US" sz="1600" dirty="0"/>
          </a:p>
        </p:txBody>
      </p:sp>
      <p:sp>
        <p:nvSpPr>
          <p:cNvPr id="99" name="Shape 55"/>
          <p:cNvSpPr/>
          <p:nvPr/>
        </p:nvSpPr>
        <p:spPr>
          <a:xfrm>
            <a:off x="3191256" y="4851241"/>
            <a:ext cx="2770632" cy="1170432"/>
          </a:xfrm>
          <a:prstGeom prst="roundRect">
            <a:avLst>
              <a:gd name="adj" fmla="val 4688"/>
            </a:avLst>
          </a:prstGeom>
          <a:solidFill>
            <a:srgbClr val="EFECFB"/>
          </a:solidFill>
          <a:ln w="15875">
            <a:solidFill>
              <a:srgbClr val="5B4FE0"/>
            </a:solidFill>
            <a:prstDash val="solid"/>
          </a:ln>
        </p:spPr>
      </p:sp>
      <p:sp>
        <p:nvSpPr>
          <p:cNvPr id="100" name="Text 56"/>
          <p:cNvSpPr/>
          <p:nvPr/>
        </p:nvSpPr>
        <p:spPr>
          <a:xfrm>
            <a:off x="3319272" y="4942681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14</a:t>
            </a:r>
            <a:endParaRPr lang="en-US" dirty="0"/>
          </a:p>
        </p:txBody>
      </p:sp>
      <p:sp>
        <p:nvSpPr>
          <p:cNvPr id="101" name="Text 57"/>
          <p:cNvSpPr/>
          <p:nvPr/>
        </p:nvSpPr>
        <p:spPr>
          <a:xfrm>
            <a:off x="3319272" y="5143849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Studio</a:t>
            </a:r>
            <a:endParaRPr lang="en-US" dirty="0"/>
          </a:p>
        </p:txBody>
      </p:sp>
      <p:sp>
        <p:nvSpPr>
          <p:cNvPr id="102" name="Text 58"/>
          <p:cNvSpPr/>
          <p:nvPr/>
        </p:nvSpPr>
        <p:spPr>
          <a:xfrm>
            <a:off x="3319272" y="5546185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team-owned agentic system</a:t>
            </a:r>
            <a:endParaRPr 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3421204" y="6222841"/>
            <a:ext cx="8283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 3</a:t>
            </a:r>
            <a:r>
              <a:rPr lang="en-US" sz="2400" b="1" baseline="30000" dirty="0">
                <a:solidFill>
                  <a:srgbClr val="FF0000"/>
                </a:solidFill>
              </a:rPr>
              <a:t>rd</a:t>
            </a:r>
            <a:r>
              <a:rPr lang="en-US" sz="2400" b="1" dirty="0">
                <a:solidFill>
                  <a:srgbClr val="FF0000"/>
                </a:solidFill>
              </a:rPr>
              <a:t> Week Work lets will be shared with all the Student teams 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12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143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73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 Model for Student Scale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53735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worklets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reduce dependency on individual mentors and let faculty run repeatable agentic AI experiences.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923583"/>
            <a:ext cx="1691640" cy="914400"/>
          </a:xfrm>
          <a:prstGeom prst="roundRect">
            <a:avLst>
              <a:gd name="adj" fmla="val 600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2996735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53935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Worklets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286000" y="2923583"/>
            <a:ext cx="1691640" cy="914400"/>
          </a:xfrm>
          <a:prstGeom prst="roundRect">
            <a:avLst>
              <a:gd name="adj" fmla="val 600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286000" y="2996735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3453935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114800" y="2923583"/>
            <a:ext cx="1691640" cy="914400"/>
          </a:xfrm>
          <a:prstGeom prst="roundRect">
            <a:avLst>
              <a:gd name="adj" fmla="val 600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E2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996735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0" y="3453935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 Team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426567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scoped problems with starter context, tools, prompt templates, expected artifacts, and rubric — reused each semester with updated tools, datasets, or cloud services.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5080" y="1143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73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Capstone Weighting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6355080" y="1853735"/>
          <a:ext cx="5394960" cy="356616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B4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5B4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labs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E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assignment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E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MCP/tool integration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E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workflow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E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research report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E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E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E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5591556"/>
            <a:ext cx="11247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i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is artifact-driven: students are graded on working evidence — prompt logs, tool calls, traces, tests, and demonstrations.</a:t>
            </a:r>
            <a:endParaRPr lang="en-US" sz="20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182880" y="140073"/>
            <a:ext cx="11704320" cy="809213"/>
            <a:chOff x="182880" y="140073"/>
            <a:chExt cx="11704320" cy="809213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228600" y="929307"/>
              <a:ext cx="11658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82784" y="140073"/>
              <a:ext cx="704416" cy="693410"/>
            </a:xfrm>
            <a:prstGeom prst="rect">
              <a:avLst/>
            </a:prstGeom>
          </p:spPr>
        </p:pic>
        <p:sp>
          <p:nvSpPr>
            <p:cNvPr id="24" name="Text 0"/>
            <p:cNvSpPr/>
            <p:nvPr/>
          </p:nvSpPr>
          <p:spPr>
            <a:xfrm>
              <a:off x="182880" y="168504"/>
              <a:ext cx="7315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kern="0" spc="150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PROGRAM DESIGN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5" name="Text 1"/>
            <p:cNvSpPr/>
            <p:nvPr/>
          </p:nvSpPr>
          <p:spPr>
            <a:xfrm>
              <a:off x="182880" y="400646"/>
              <a:ext cx="112471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solidFill>
                    <a:srgbClr val="0033CC"/>
                  </a:solidFill>
                  <a:latin typeface="Book Antiqua" panose="02040602050305030304" pitchFamily="18" charset="0"/>
                  <a:ea typeface="Georgia" pitchFamily="34" charset="-122"/>
                  <a:cs typeface="Georgia" pitchFamily="34" charset="-120"/>
                </a:rPr>
                <a:t>Worklet Model &amp; Assessment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033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36576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365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79576" y="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agentic AI worklets across the academic lifecycle — one human-approved coordinator each.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1910182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91018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9576" y="1792224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Lab Examination &amp; Auto-Evaluation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Test-case auto-grading for any CS lab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978" y="1737360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9282" y="1910182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12" name="Text 10"/>
          <p:cNvSpPr/>
          <p:nvPr/>
        </p:nvSpPr>
        <p:spPr>
          <a:xfrm>
            <a:off x="4469282" y="191018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99634" y="1792224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Project, Notes &amp; Assignment Organizer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assignments &amp; project tracking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43037" y="1737360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9341" y="1910182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16" name="Text 14"/>
          <p:cNvSpPr/>
          <p:nvPr/>
        </p:nvSpPr>
        <p:spPr>
          <a:xfrm>
            <a:off x="8289341" y="191018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19693" y="1792224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Organizer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draft &amp; track faculty email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2741371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" y="2914193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" y="291419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9576" y="2796235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Organizer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to signed-off minutes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22978" y="2741371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69282" y="2914193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24" name="Text 22"/>
          <p:cNvSpPr/>
          <p:nvPr/>
        </p:nvSpPr>
        <p:spPr>
          <a:xfrm>
            <a:off x="4469282" y="291419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99634" y="2796235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System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Curriculum-vs-industry gap analysis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43037" y="2741371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9341" y="2914193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28" name="Text 26"/>
          <p:cNvSpPr/>
          <p:nvPr/>
        </p:nvSpPr>
        <p:spPr>
          <a:xfrm>
            <a:off x="8289341" y="291419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819693" y="2796235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 Setting &amp; OBE Analysis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Blueprint-compliant papers + OBE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3745382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" y="3918204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" y="39182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79576" y="3800246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Examination System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to results with integrity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322978" y="3745382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69282" y="3918204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6" name="Text 34"/>
          <p:cNvSpPr/>
          <p:nvPr/>
        </p:nvSpPr>
        <p:spPr>
          <a:xfrm>
            <a:off x="4469282" y="39182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999634" y="3800246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Appraisal Management System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Evidence-validated API scoring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43037" y="3745382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9341" y="3918204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40" name="Text 38"/>
          <p:cNvSpPr/>
          <p:nvPr/>
        </p:nvSpPr>
        <p:spPr>
          <a:xfrm>
            <a:off x="8289341" y="39182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819693" y="3800246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 &amp; Career Intelligence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Readiness, skill gaps &amp; company fit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4749394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" y="4922215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" y="492221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179576" y="4804258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Application &amp; Tracking Portal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 final grade, tracked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322978" y="4749394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69282" y="4922215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48" name="Text 46"/>
          <p:cNvSpPr/>
          <p:nvPr/>
        </p:nvSpPr>
        <p:spPr>
          <a:xfrm>
            <a:off x="4469282" y="492221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4999634" y="4804258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&amp; Early Warning System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with mentor actions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143037" y="4749394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89341" y="4922215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52" name="Text 50"/>
          <p:cNvSpPr/>
          <p:nvPr/>
        </p:nvSpPr>
        <p:spPr>
          <a:xfrm>
            <a:off x="8289341" y="492221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819693" y="4804258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discovery to draft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02920" y="5753405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9224" y="5926226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56" name="Text 54"/>
          <p:cNvSpPr/>
          <p:nvPr/>
        </p:nvSpPr>
        <p:spPr>
          <a:xfrm>
            <a:off x="649224" y="592622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179576" y="5808269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Grant Management System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discovery to submission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4322978" y="5753405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69282" y="5926226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60" name="Text 58"/>
          <p:cNvSpPr/>
          <p:nvPr/>
        </p:nvSpPr>
        <p:spPr>
          <a:xfrm>
            <a:off x="4469282" y="592622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4999634" y="5808269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Intelligence &amp; Publication Analytics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&amp; NIRF/NAAC reporting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8143037" y="5753405"/>
            <a:ext cx="3545738" cy="784555"/>
          </a:xfrm>
          <a:prstGeom prst="roundRect">
            <a:avLst>
              <a:gd name="adj" fmla="val 8159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89341" y="5926226"/>
            <a:ext cx="438912" cy="4389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64" name="Text 62"/>
          <p:cNvSpPr/>
          <p:nvPr/>
        </p:nvSpPr>
        <p:spPr>
          <a:xfrm>
            <a:off x="8289341" y="592622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8819693" y="5808269"/>
            <a:ext cx="2759354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Support System
</a:t>
            </a:r>
            <a:r>
              <a:rPr lang="en-US" sz="1050" i="1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institution-wide KPIs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Worklets Compendium  ·  Course Code 26ECAC401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126480" y="65105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draft &amp; flag  ·  a named human approves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73756"/>
            <a:ext cx="822960" cy="813212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19456" y="640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97864" y="2743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Lab Examination &amp; Auto-Evaluation Agent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Auto-grade student lab code against faculty test cases — for any CS course.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49459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4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 Agent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95528" y="296665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812923"/>
            <a:ext cx="4983480" cy="4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Test-Case Intake Agent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5528" y="34387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284982"/>
            <a:ext cx="4983480" cy="4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Intake Agent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95528" y="391077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3757041"/>
            <a:ext cx="4983480" cy="4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Execution Agent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95528" y="438283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229100"/>
            <a:ext cx="4983480" cy="4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Similarity Agent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95528" y="485489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4701159"/>
            <a:ext cx="4983480" cy="4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Agent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95528" y="532695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424" y="5173218"/>
            <a:ext cx="4983480" cy="4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Agent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95528" y="579901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3" name="Text 21"/>
          <p:cNvSpPr/>
          <p:nvPr/>
        </p:nvSpPr>
        <p:spPr>
          <a:xfrm>
            <a:off x="1106424" y="5645277"/>
            <a:ext cx="4983480" cy="47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Publishing Agent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per-student marks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31" name="Text 29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Where-you-went-wrong feedback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33" name="Text 31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flags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6" name="Text 34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runner   ·   Test-case harness   ·   LLM feedback   ·   Similarity check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3464" y="68580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83464" y="685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685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Project, Notes &amp; Assignment Organizer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coordinator for notes, assignment distribution, and project tracking.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283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Repository Agent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5528" y="306781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88036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Distribution Agent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5528" y="360730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19856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Collection Agent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5528" y="414680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3959352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/ Similarity Agent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5528" y="468630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498848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Assistance Agent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5528" y="522579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03834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 Tracking Agent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5528" y="576529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424" y="557784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Publishing Agent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notes portal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dashboard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grades &amp; feedback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31" name="Text 29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tracker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   ·   Similarity check   ·   RAG   ·   LLM grading assist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36576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" y="365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" y="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Organizer Agent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draft, and track faculty email — approval before every send.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283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Classification Agent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5528" y="306781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88036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Urgency Agent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5528" y="360730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19856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Reply Agent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5528" y="414680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3959352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Action-Item Extraction Agent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5528" y="468630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498848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/ Reminder Agent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5528" y="522579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03834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Task Sync Agent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5528" y="576529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424" y="557784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&amp; Logging Agent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Triaged inbox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Draft-reply queue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Action-item list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31" name="Text 29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digest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IMAP API   ·   LLM classification   ·   LLM drafting   ·   Calendar API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4008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640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07008" y="2743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Organizer Agent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scheduling to signed-off minutes and tracked action items.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283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Availability Agent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5528" y="306781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88036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Preparation Agent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5528" y="360730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19856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&amp; Minutes Agent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5528" y="414680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3959352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Action-Item Tracker Agent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5528" y="468630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498848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Reminder Agent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5528" y="522579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03834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Room Booking Agent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5528" y="576529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424" y="557784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Logging Agent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meeting slots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agenda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minutes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31" name="Text 29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Action-item tracker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API   ·   Speech-to-text   ·   LLM summarization   ·   RAG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36576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365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 System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curriculum vs industry, benchmark ACM/APNI, and recommend revisions.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4203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Mapping Agent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5528" y="310896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907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Skills Agent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" y="367588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747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ACM/APNI Benchmarking Agent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" y="42428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40416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Agent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5528" y="480974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60857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map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industry skills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report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 &amp; recommendations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0" name="Text 28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Job-market APIs   ·   RAG   ·   Embeddings   ·   LLM analysis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64008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" y="640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" y="2743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 Setting &amp; OBE Analysis System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Blueprint-compliant paper generation plus full OBE analysis before release.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283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Agent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5528" y="306781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88036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Agent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5528" y="360730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19856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Agent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5528" y="414680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3959352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Selection Agent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5528" y="468630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498848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CO-PO Mapping Agent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5528" y="522579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03834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&amp; Coverage Agent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5528" y="576529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424" y="557784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Validation Agent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question paper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of valuation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&amp; CO-PO tags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31" name="Text 29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quality report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question bank   ·   Vector DB   ·   LLM tagging   ·   Rules engine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53721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19456" y="53721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97864" y="17145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Examination System Agent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registration to published results, with integrity and faculty sign-off.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283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Eligibility Agent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5528" y="306781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88036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Delivery Agent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5528" y="360730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19856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Proctoring &amp; Integrity Agent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5528" y="414680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3959352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Auto-Grading Agent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5528" y="468630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498848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Grading Assist Agent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5528" y="522579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03834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&amp; Revaluation Agent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5528" y="576529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424" y="557784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Publishing Agent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list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report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grades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31" name="Text 29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results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delivery platform   ·   Proctoring signals   ·   LLM grading assist   ·   Rules engine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53721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53721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07008" y="17145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Appraisal Management System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Evidence-validated API scoring across research, teaching, and admin work.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4203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Data Collection Agent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95528" y="310896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907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Teaching-Learning Data Collection Agent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95528" y="367588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747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Data Collection Agent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95528" y="42428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40416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Validation Agent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95528" y="480974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60857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Calculation Agent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95528" y="537667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1755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Agent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dashboard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evidence status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score breakdown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report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integration   ·   RAG   ·   Document parsing   ·   Rules engine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32004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19456" y="320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97864" y="-457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 &amp; Career Intelligence Portal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 placement readiness, skill gaps, company fit, and upskilling.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4203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Agent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5528" y="310896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907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Agent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" y="367588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747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Analytics Agent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" y="42428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40416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Matching Agent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5528" y="480974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60857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Agent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 score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report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role matches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roadmap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0" name="Text 28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  ·   Embeddings   ·   Coding-platform APIs   ·   LLM mock interview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53721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3721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17145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Application &amp; Tracking Portal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discovery to final grade in one tracked record.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4203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Discovery Agent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95528" y="310896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907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Verification Agent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95528" y="367588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747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Processing Agent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95528" y="42428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40416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Agent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95528" y="480974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60857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Agent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95528" y="537667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1755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Agent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opportunity matches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status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trail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logs &amp; evaluation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aggregation   ·   Rules engine   ·   Workflow engine   ·   LLM matching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53721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3721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17145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&amp; Early Warning System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composite risk view with mentor-approved interventions.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4203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Contineo Data Collection Agent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95528" y="310896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907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Data Collection Agent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95528" y="367588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747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Data Collection Agent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95528" y="42428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40416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Data Collection Agent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95528" y="480974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60857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Agent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95528" y="537667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1755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flags with reasoning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log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Contineo / LMS integration   ·   ML risk model   ·   Feature store   ·   LLM recommendations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36576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07008" y="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Agent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literature discovery to a submission-ready, faculty-approved draft.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283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Discovery Agent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5528" y="306781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88036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&amp; Idea Analysis Agent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5528" y="360730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19856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&amp; Writing Agent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5528" y="414680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3959352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Compliance Agent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5528" y="468630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498848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/ Journal Radar Agent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5528" y="522579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03834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Agent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5528" y="576529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424" y="557784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Repository Agent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reading list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summary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draft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31" name="Text 29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Citation-check report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Scholarly APIs   ·   RAG   ·   Vector DB   ·   LLM drafting   ·   Reference manager   ·   Python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32004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19456" y="320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97864" y="-457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Grant Management System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faculty across the full grant lifecycle, from discovery to submission.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4203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Discovery Agent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95528" y="310896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907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Agent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95528" y="367588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747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Drafting Agent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95528" y="42428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40416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Planning Agent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95528" y="480974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60857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Checking Agent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95528" y="537667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1755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Agent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funding opportunities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proposal draft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 ·   LLM drafting   ·   Vector DB   ·   Funder APIs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32004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320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-457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Intelligence &amp; Publication Analytics Portal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reconciled view of publications, citations, and NIRF/NAAC reporting.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283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Profile Agent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5528" y="306781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88036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Harvest Agent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5528" y="360730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19856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/ WoS Verification Agent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5528" y="414680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3959352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Agent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5528" y="468630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498848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Analytics Agent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5528" y="522579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038344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5528" y="576529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424" y="5577840"/>
            <a:ext cx="4983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Agent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publication list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h-index &amp; citations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status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31" name="Text 29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NIRF/NAAC report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/ Scopus / WoS APIs   ·   Entity resolution   ·   Vector DB   ·   Analytics engine   ·   Python   · 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68580"/>
            <a:ext cx="822960" cy="822960"/>
          </a:xfrm>
          <a:prstGeom prst="ellipse">
            <a:avLst/>
          </a:prstGeom>
          <a:solidFill>
            <a:srgbClr val="C8202A"/>
          </a:solidFill>
          <a:ln/>
        </p:spPr>
      </p:sp>
      <p:sp>
        <p:nvSpPr>
          <p:cNvPr id="3" name="Text 1"/>
          <p:cNvSpPr/>
          <p:nvPr/>
        </p:nvSpPr>
        <p:spPr>
          <a:xfrm>
            <a:off x="219456" y="685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97864" y="32004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Support System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499616" y="10241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real-time, drill-down view of institution-wide KPIs against targets.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852160" cy="43434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4203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9" name="Text 7"/>
          <p:cNvSpPr/>
          <p:nvPr/>
        </p:nvSpPr>
        <p:spPr>
          <a:xfrm>
            <a:off x="1106424" y="23408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Agent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95528" y="3108960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1" name="Text 9"/>
          <p:cNvSpPr/>
          <p:nvPr/>
        </p:nvSpPr>
        <p:spPr>
          <a:xfrm>
            <a:off x="1106424" y="2907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95528" y="3675888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6424" y="34747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Agent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95528" y="4242816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6424" y="40416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Agent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95528" y="4809744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460857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Agent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95528" y="5376672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6424" y="51755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Agent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83680" y="1572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537960" y="2011680"/>
            <a:ext cx="5166360" cy="2697480"/>
          </a:xfrm>
          <a:prstGeom prst="roundRect">
            <a:avLst>
              <a:gd name="adj" fmla="val 3390"/>
            </a:avLst>
          </a:prstGeom>
          <a:solidFill>
            <a:srgbClr val="F1F4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0568" y="2524887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2340864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Institution-wide KPIs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30568" y="3057525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5" name="Text 23"/>
          <p:cNvSpPr/>
          <p:nvPr/>
        </p:nvSpPr>
        <p:spPr>
          <a:xfrm>
            <a:off x="7141464" y="2873502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metrics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30568" y="3590163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3406140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0568" y="4122801"/>
            <a:ext cx="155448" cy="155448"/>
          </a:xfrm>
          <a:prstGeom prst="roundRect">
            <a:avLst>
              <a:gd name="adj" fmla="val 20588"/>
            </a:avLst>
          </a:prstGeom>
          <a:solidFill>
            <a:srgbClr val="C8202A"/>
          </a:solidFill>
          <a:ln/>
        </p:spPr>
      </p:sp>
      <p:sp>
        <p:nvSpPr>
          <p:cNvPr id="29" name="Text 27"/>
          <p:cNvSpPr/>
          <p:nvPr/>
        </p:nvSpPr>
        <p:spPr>
          <a:xfrm>
            <a:off x="7141464" y="3938778"/>
            <a:ext cx="4297680" cy="53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6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evidence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83680" y="4864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Technologies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537960" y="5285232"/>
            <a:ext cx="5166360" cy="1060704"/>
          </a:xfrm>
          <a:prstGeom prst="roundRect">
            <a:avLst>
              <a:gd name="adj" fmla="val 7759"/>
            </a:avLst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6793992" y="5285232"/>
            <a:ext cx="4654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connectors   ·   Data warehouse   ·   KPI engine   ·   LLM narrative   ·   BI dashboard   ·   Python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0241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submit a chapter-wise, Bloom-tagged (L1–L3) question bank once, then generate a compliant question paper and scheme of valuation on demand by specifying criteria.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4526280"/>
          </a:xfrm>
          <a:prstGeom prst="roundRect">
            <a:avLst>
              <a:gd name="adj" fmla="val 1414"/>
            </a:avLst>
          </a:prstGeom>
          <a:solidFill>
            <a:srgbClr val="FCEEEC"/>
          </a:solidFill>
          <a:ln w="12700">
            <a:solidFill>
              <a:srgbClr val="F1D3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9280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1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313432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assembly against unit weightage and Bloom targets is done by hand, every semester and every set</a:t>
            </a:r>
            <a:endParaRPr lang="en-US" dirty="0"/>
          </a:p>
          <a:p>
            <a:pPr marL="203200" indent="-203200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no question repeats across sets or semesters is hard to track manually</a:t>
            </a:r>
            <a:endParaRPr lang="en-US" dirty="0"/>
          </a:p>
          <a:p>
            <a:pPr marL="203200" indent="-203200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distribution across units and Bloom levels is easy to get wrong under time pressure</a:t>
            </a:r>
            <a:endParaRPr lang="en-US" dirty="0"/>
          </a:p>
          <a:p>
            <a:pPr marL="203200" indent="-203200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scheme of valuation is prepared separately and can drift from the final paper</a:t>
            </a:r>
            <a:endParaRPr lang="en-US" dirty="0"/>
          </a:p>
          <a:p>
            <a:pPr marL="203200" indent="-203200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papers are sensitive — confidentiality must hold before the exam date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4526280"/>
          </a:xfrm>
          <a:prstGeom prst="roundRect">
            <a:avLst>
              <a:gd name="adj" fmla="val 1414"/>
            </a:avLst>
          </a:prstGeom>
          <a:solidFill>
            <a:srgbClr val="EFECFB"/>
          </a:solidFill>
          <a:ln w="12700">
            <a:solidFill>
              <a:srgbClr val="D7D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9280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Means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37960" y="2313432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Coordinator, not a question generator — selects and assembles only from the faculty-approved bank</a:t>
            </a:r>
            <a:endParaRPr lang="en-US" dirty="0"/>
          </a:p>
          <a:p>
            <a:pPr marL="203200" indent="-203200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Criteria-driven — every paper is built to match explicit marks, weightage, and Bloom-mix targets</a:t>
            </a:r>
            <a:endParaRPr lang="en-US" dirty="0"/>
          </a:p>
          <a:p>
            <a:pPr marL="203200" indent="-203200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approval in the loop — no paper or scheme is released without sign-off</a:t>
            </a:r>
            <a:endParaRPr lang="en-US" dirty="0"/>
          </a:p>
          <a:p>
            <a:pPr marL="203200" indent="-203200">
              <a:lnSpc>
                <a:spcPct val="122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any course once its bank is tagged and loaded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82880" y="85957"/>
            <a:ext cx="11704320" cy="863329"/>
            <a:chOff x="182880" y="85957"/>
            <a:chExt cx="11704320" cy="863329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228600" y="929307"/>
              <a:ext cx="11658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82784" y="140073"/>
              <a:ext cx="704416" cy="693410"/>
            </a:xfrm>
            <a:prstGeom prst="rect">
              <a:avLst/>
            </a:prstGeom>
          </p:spPr>
        </p:pic>
        <p:sp>
          <p:nvSpPr>
            <p:cNvPr id="16" name="Text 0"/>
            <p:cNvSpPr/>
            <p:nvPr/>
          </p:nvSpPr>
          <p:spPr>
            <a:xfrm>
              <a:off x="228600" y="85957"/>
              <a:ext cx="8909749" cy="4316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kern="0" spc="150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SOLUTION DIRECTION &amp; WORKFLOW PROPOSAL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7" name="Text 1"/>
            <p:cNvSpPr/>
            <p:nvPr/>
          </p:nvSpPr>
          <p:spPr>
            <a:xfrm>
              <a:off x="182880" y="400646"/>
              <a:ext cx="112471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solidFill>
                    <a:srgbClr val="0033CC"/>
                  </a:solidFill>
                  <a:latin typeface="Book Antiqua" panose="02040602050305030304" pitchFamily="18" charset="0"/>
                  <a:ea typeface="Georgia" pitchFamily="34" charset="-122"/>
                  <a:cs typeface="Georgia" pitchFamily="34" charset="-120"/>
                </a:rPr>
                <a:t>Question Paper Setting Agent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96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/>
          <p:cNvSpPr/>
          <p:nvPr/>
        </p:nvSpPr>
        <p:spPr>
          <a:xfrm>
            <a:off x="462965" y="162803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5EFE1"/>
          </a:solidFill>
          <a:ln w="15875">
            <a:solidFill>
              <a:srgbClr val="1E2A44"/>
            </a:solidFill>
            <a:prstDash val="solid"/>
          </a:ln>
        </p:spPr>
      </p:sp>
      <p:sp>
        <p:nvSpPr>
          <p:cNvPr id="19" name="Text 3"/>
          <p:cNvSpPr/>
          <p:nvPr/>
        </p:nvSpPr>
        <p:spPr>
          <a:xfrm>
            <a:off x="462965" y="162803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Bank Intake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20" name="Shape 4"/>
          <p:cNvSpPr/>
          <p:nvPr/>
        </p:nvSpPr>
        <p:spPr>
          <a:xfrm>
            <a:off x="2703245" y="162803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5EFE1"/>
          </a:solidFill>
          <a:ln w="15875">
            <a:solidFill>
              <a:srgbClr val="1E2A44"/>
            </a:solidFill>
            <a:prstDash val="solid"/>
          </a:ln>
        </p:spPr>
      </p:sp>
      <p:sp>
        <p:nvSpPr>
          <p:cNvPr id="21" name="Text 5"/>
          <p:cNvSpPr/>
          <p:nvPr/>
        </p:nvSpPr>
        <p:spPr>
          <a:xfrm>
            <a:off x="2703245" y="162803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Criteria Intake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22" name="Shape 6"/>
          <p:cNvSpPr/>
          <p:nvPr/>
        </p:nvSpPr>
        <p:spPr>
          <a:xfrm>
            <a:off x="4943525" y="162803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5EFE1"/>
          </a:solidFill>
          <a:ln w="15875">
            <a:solidFill>
              <a:srgbClr val="1E2A44"/>
            </a:solidFill>
            <a:prstDash val="solid"/>
          </a:ln>
        </p:spPr>
      </p:sp>
      <p:sp>
        <p:nvSpPr>
          <p:cNvPr id="23" name="Text 7"/>
          <p:cNvSpPr/>
          <p:nvPr/>
        </p:nvSpPr>
        <p:spPr>
          <a:xfrm>
            <a:off x="4943525" y="162803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Selection /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Agent</a:t>
            </a:r>
            <a:endParaRPr lang="en-US" sz="1800" dirty="0"/>
          </a:p>
        </p:txBody>
      </p:sp>
      <p:sp>
        <p:nvSpPr>
          <p:cNvPr id="24" name="Shape 8"/>
          <p:cNvSpPr/>
          <p:nvPr/>
        </p:nvSpPr>
        <p:spPr>
          <a:xfrm>
            <a:off x="7183805" y="162803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5EFE1"/>
          </a:solidFill>
          <a:ln w="15875">
            <a:solidFill>
              <a:srgbClr val="1E2A44"/>
            </a:solidFill>
            <a:prstDash val="solid"/>
          </a:ln>
        </p:spPr>
      </p:sp>
      <p:sp>
        <p:nvSpPr>
          <p:cNvPr id="25" name="Text 9"/>
          <p:cNvSpPr/>
          <p:nvPr/>
        </p:nvSpPr>
        <p:spPr>
          <a:xfrm>
            <a:off x="7183805" y="162803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Format &amp;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Agent</a:t>
            </a:r>
            <a:endParaRPr lang="en-US" sz="1800" dirty="0"/>
          </a:p>
        </p:txBody>
      </p:sp>
      <p:sp>
        <p:nvSpPr>
          <p:cNvPr id="26" name="Shape 10"/>
          <p:cNvSpPr/>
          <p:nvPr/>
        </p:nvSpPr>
        <p:spPr>
          <a:xfrm>
            <a:off x="9424085" y="162803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5EFE1"/>
          </a:solidFill>
          <a:ln w="15875">
            <a:solidFill>
              <a:srgbClr val="1E2A44"/>
            </a:solidFill>
            <a:prstDash val="solid"/>
          </a:ln>
        </p:spPr>
      </p:sp>
      <p:sp>
        <p:nvSpPr>
          <p:cNvPr id="27" name="Text 11"/>
          <p:cNvSpPr/>
          <p:nvPr/>
        </p:nvSpPr>
        <p:spPr>
          <a:xfrm>
            <a:off x="9424085" y="162803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Validation /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</a:t>
            </a:r>
            <a:endParaRPr lang="en-US" sz="1800" dirty="0"/>
          </a:p>
        </p:txBody>
      </p:sp>
      <p:sp>
        <p:nvSpPr>
          <p:cNvPr id="28" name="Shape 12"/>
          <p:cNvSpPr/>
          <p:nvPr/>
        </p:nvSpPr>
        <p:spPr>
          <a:xfrm>
            <a:off x="462965" y="290819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5EFE1"/>
          </a:solidFill>
          <a:ln w="15875">
            <a:solidFill>
              <a:srgbClr val="1E2A44"/>
            </a:solidFill>
            <a:prstDash val="solid"/>
          </a:ln>
        </p:spPr>
      </p:sp>
      <p:sp>
        <p:nvSpPr>
          <p:cNvPr id="29" name="Text 13"/>
          <p:cNvSpPr/>
          <p:nvPr/>
        </p:nvSpPr>
        <p:spPr>
          <a:xfrm>
            <a:off x="462965" y="290819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Export &amp;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Agent</a:t>
            </a:r>
            <a:endParaRPr lang="en-US" sz="1800" dirty="0"/>
          </a:p>
        </p:txBody>
      </p:sp>
      <p:sp>
        <p:nvSpPr>
          <p:cNvPr id="30" name="Shape 14"/>
          <p:cNvSpPr/>
          <p:nvPr/>
        </p:nvSpPr>
        <p:spPr>
          <a:xfrm>
            <a:off x="4440605" y="281675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16233D"/>
          </a:solidFill>
          <a:ln/>
        </p:spPr>
      </p:sp>
      <p:sp>
        <p:nvSpPr>
          <p:cNvPr id="31" name="Text 15"/>
          <p:cNvSpPr/>
          <p:nvPr/>
        </p:nvSpPr>
        <p:spPr>
          <a:xfrm>
            <a:off x="4440605" y="281675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 Setting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800" dirty="0"/>
          </a:p>
        </p:txBody>
      </p:sp>
      <p:sp>
        <p:nvSpPr>
          <p:cNvPr id="32" name="Text 16"/>
          <p:cNvSpPr/>
          <p:nvPr/>
        </p:nvSpPr>
        <p:spPr>
          <a:xfrm>
            <a:off x="7764449" y="2962193"/>
            <a:ext cx="3957960" cy="6085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6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 ·  initializes  ·  routes exceptions  ·  monitors state</a:t>
            </a:r>
            <a:endParaRPr lang="en-US" sz="1600" dirty="0"/>
          </a:p>
        </p:txBody>
      </p:sp>
      <p:sp>
        <p:nvSpPr>
          <p:cNvPr id="33" name="Shape 17"/>
          <p:cNvSpPr/>
          <p:nvPr/>
        </p:nvSpPr>
        <p:spPr>
          <a:xfrm>
            <a:off x="462965" y="427979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8B2635"/>
          </a:solidFill>
          <a:ln/>
        </p:spPr>
      </p:sp>
      <p:sp>
        <p:nvSpPr>
          <p:cNvPr id="34" name="Text 18"/>
          <p:cNvSpPr/>
          <p:nvPr/>
        </p:nvSpPr>
        <p:spPr>
          <a:xfrm>
            <a:off x="462965" y="427979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Faculty Review</a:t>
            </a:r>
            <a:endParaRPr lang="en-US" sz="1800" dirty="0"/>
          </a:p>
        </p:txBody>
      </p:sp>
      <p:sp>
        <p:nvSpPr>
          <p:cNvPr id="35" name="Shape 19"/>
          <p:cNvSpPr/>
          <p:nvPr/>
        </p:nvSpPr>
        <p:spPr>
          <a:xfrm>
            <a:off x="9254921" y="427979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C9971E"/>
          </a:solidFill>
          <a:ln/>
        </p:spPr>
      </p:sp>
      <p:sp>
        <p:nvSpPr>
          <p:cNvPr id="36" name="Text 20"/>
          <p:cNvSpPr/>
          <p:nvPr/>
        </p:nvSpPr>
        <p:spPr>
          <a:xfrm>
            <a:off x="9254921" y="427979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A4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Faculty-approved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A4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Scheme</a:t>
            </a:r>
            <a:endParaRPr lang="en-US" sz="1800" dirty="0"/>
          </a:p>
        </p:txBody>
      </p:sp>
      <p:sp>
        <p:nvSpPr>
          <p:cNvPr id="37" name="Shape 21"/>
          <p:cNvSpPr/>
          <p:nvPr/>
        </p:nvSpPr>
        <p:spPr>
          <a:xfrm>
            <a:off x="3101009" y="565139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C9971E"/>
          </a:solidFill>
          <a:ln/>
        </p:spPr>
      </p:sp>
      <p:sp>
        <p:nvSpPr>
          <p:cNvPr id="38" name="Text 22"/>
          <p:cNvSpPr/>
          <p:nvPr/>
        </p:nvSpPr>
        <p:spPr>
          <a:xfrm>
            <a:off x="3101009" y="565139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A4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A4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Log</a:t>
            </a:r>
            <a:endParaRPr lang="en-US" sz="1800" dirty="0"/>
          </a:p>
        </p:txBody>
      </p:sp>
      <p:sp>
        <p:nvSpPr>
          <p:cNvPr id="39" name="Shape 23"/>
          <p:cNvSpPr/>
          <p:nvPr/>
        </p:nvSpPr>
        <p:spPr>
          <a:xfrm>
            <a:off x="5478449" y="565139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5EFE1"/>
          </a:solidFill>
          <a:ln w="15875">
            <a:solidFill>
              <a:srgbClr val="1E2A44"/>
            </a:solidFill>
            <a:prstDash val="solid"/>
          </a:ln>
        </p:spPr>
      </p:sp>
      <p:sp>
        <p:nvSpPr>
          <p:cNvPr id="40" name="Text 24"/>
          <p:cNvSpPr/>
          <p:nvPr/>
        </p:nvSpPr>
        <p:spPr>
          <a:xfrm>
            <a:off x="5478449" y="565139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Scheme of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Agent</a:t>
            </a:r>
            <a:endParaRPr lang="en-US" sz="1800" dirty="0"/>
          </a:p>
        </p:txBody>
      </p:sp>
      <p:sp>
        <p:nvSpPr>
          <p:cNvPr id="41" name="Shape 25"/>
          <p:cNvSpPr/>
          <p:nvPr/>
        </p:nvSpPr>
        <p:spPr>
          <a:xfrm>
            <a:off x="5995085" y="2542430"/>
            <a:ext cx="914" cy="274320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</a:ln>
        </p:spPr>
      </p:sp>
      <p:sp>
        <p:nvSpPr>
          <p:cNvPr id="42" name="Shape 26"/>
          <p:cNvSpPr/>
          <p:nvPr/>
        </p:nvSpPr>
        <p:spPr>
          <a:xfrm>
            <a:off x="1514525" y="2542430"/>
            <a:ext cx="8961120" cy="914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</a:ln>
        </p:spPr>
      </p:sp>
      <p:sp>
        <p:nvSpPr>
          <p:cNvPr id="43" name="Shape 27"/>
          <p:cNvSpPr/>
          <p:nvPr/>
        </p:nvSpPr>
        <p:spPr>
          <a:xfrm>
            <a:off x="1514525" y="2359550"/>
            <a:ext cx="914" cy="182880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headEnd type="triangle"/>
          </a:ln>
        </p:spPr>
      </p:sp>
      <p:sp>
        <p:nvSpPr>
          <p:cNvPr id="44" name="Shape 28"/>
          <p:cNvSpPr/>
          <p:nvPr/>
        </p:nvSpPr>
        <p:spPr>
          <a:xfrm>
            <a:off x="3754805" y="2359550"/>
            <a:ext cx="914" cy="182880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headEnd type="triangle"/>
          </a:ln>
        </p:spPr>
      </p:sp>
      <p:sp>
        <p:nvSpPr>
          <p:cNvPr id="45" name="Shape 29"/>
          <p:cNvSpPr/>
          <p:nvPr/>
        </p:nvSpPr>
        <p:spPr>
          <a:xfrm>
            <a:off x="5995085" y="2359550"/>
            <a:ext cx="914" cy="182880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headEnd type="triangle"/>
          </a:ln>
        </p:spPr>
      </p:sp>
      <p:sp>
        <p:nvSpPr>
          <p:cNvPr id="46" name="Shape 30"/>
          <p:cNvSpPr/>
          <p:nvPr/>
        </p:nvSpPr>
        <p:spPr>
          <a:xfrm>
            <a:off x="8235365" y="2359550"/>
            <a:ext cx="914" cy="182880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headEnd type="triangle"/>
          </a:ln>
        </p:spPr>
      </p:sp>
      <p:sp>
        <p:nvSpPr>
          <p:cNvPr id="47" name="Shape 31"/>
          <p:cNvSpPr/>
          <p:nvPr/>
        </p:nvSpPr>
        <p:spPr>
          <a:xfrm>
            <a:off x="10475645" y="2359550"/>
            <a:ext cx="914" cy="182880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headEnd type="triangle"/>
          </a:ln>
        </p:spPr>
      </p:sp>
      <p:sp>
        <p:nvSpPr>
          <p:cNvPr id="48" name="Shape 32"/>
          <p:cNvSpPr/>
          <p:nvPr/>
        </p:nvSpPr>
        <p:spPr>
          <a:xfrm>
            <a:off x="1514525" y="3639710"/>
            <a:ext cx="914" cy="640080"/>
          </a:xfrm>
          <a:prstGeom prst="line">
            <a:avLst/>
          </a:prstGeom>
          <a:noFill/>
          <a:ln w="25400">
            <a:solidFill>
              <a:srgbClr val="8B2635"/>
            </a:solidFill>
            <a:prstDash val="solid"/>
            <a:tailEnd type="triangle"/>
          </a:ln>
        </p:spPr>
      </p:sp>
      <p:sp>
        <p:nvSpPr>
          <p:cNvPr id="49" name="Shape 33"/>
          <p:cNvSpPr/>
          <p:nvPr/>
        </p:nvSpPr>
        <p:spPr>
          <a:xfrm>
            <a:off x="5995085" y="3731150"/>
            <a:ext cx="914" cy="411480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</a:ln>
        </p:spPr>
      </p:sp>
      <p:sp>
        <p:nvSpPr>
          <p:cNvPr id="50" name="Shape 34"/>
          <p:cNvSpPr/>
          <p:nvPr/>
        </p:nvSpPr>
        <p:spPr>
          <a:xfrm>
            <a:off x="2108885" y="4142630"/>
            <a:ext cx="3886200" cy="914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</a:ln>
        </p:spPr>
      </p:sp>
      <p:sp>
        <p:nvSpPr>
          <p:cNvPr id="51" name="Shape 35"/>
          <p:cNvSpPr/>
          <p:nvPr/>
        </p:nvSpPr>
        <p:spPr>
          <a:xfrm>
            <a:off x="2108885" y="4142630"/>
            <a:ext cx="914" cy="137160"/>
          </a:xfrm>
          <a:prstGeom prst="line">
            <a:avLst/>
          </a:prstGeom>
          <a:noFill/>
          <a:ln w="15875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52" name="Shape 36"/>
          <p:cNvSpPr/>
          <p:nvPr/>
        </p:nvSpPr>
        <p:spPr>
          <a:xfrm>
            <a:off x="1514525" y="5011310"/>
            <a:ext cx="914" cy="320040"/>
          </a:xfrm>
          <a:prstGeom prst="line">
            <a:avLst/>
          </a:prstGeom>
          <a:noFill/>
          <a:ln w="25400">
            <a:solidFill>
              <a:srgbClr val="8B2635"/>
            </a:solidFill>
            <a:prstDash val="solid"/>
          </a:ln>
        </p:spPr>
      </p:sp>
      <p:sp>
        <p:nvSpPr>
          <p:cNvPr id="53" name="Shape 37"/>
          <p:cNvSpPr/>
          <p:nvPr/>
        </p:nvSpPr>
        <p:spPr>
          <a:xfrm>
            <a:off x="1514525" y="5331350"/>
            <a:ext cx="2638044" cy="914"/>
          </a:xfrm>
          <a:prstGeom prst="line">
            <a:avLst/>
          </a:prstGeom>
          <a:noFill/>
          <a:ln w="25400">
            <a:solidFill>
              <a:srgbClr val="8B2635"/>
            </a:solidFill>
            <a:prstDash val="solid"/>
          </a:ln>
        </p:spPr>
      </p:sp>
      <p:sp>
        <p:nvSpPr>
          <p:cNvPr id="54" name="Shape 38"/>
          <p:cNvSpPr/>
          <p:nvPr/>
        </p:nvSpPr>
        <p:spPr>
          <a:xfrm>
            <a:off x="4152569" y="5331350"/>
            <a:ext cx="914" cy="320040"/>
          </a:xfrm>
          <a:prstGeom prst="line">
            <a:avLst/>
          </a:prstGeom>
          <a:noFill/>
          <a:ln w="25400">
            <a:solidFill>
              <a:srgbClr val="8B2635"/>
            </a:solidFill>
            <a:prstDash val="solid"/>
            <a:tailEnd type="triangle"/>
          </a:ln>
        </p:spPr>
      </p:sp>
      <p:sp>
        <p:nvSpPr>
          <p:cNvPr id="55" name="Shape 39"/>
          <p:cNvSpPr/>
          <p:nvPr/>
        </p:nvSpPr>
        <p:spPr>
          <a:xfrm>
            <a:off x="5204129" y="6017150"/>
            <a:ext cx="274320" cy="914"/>
          </a:xfrm>
          <a:prstGeom prst="line">
            <a:avLst/>
          </a:prstGeom>
          <a:noFill/>
          <a:ln w="25400">
            <a:solidFill>
              <a:srgbClr val="C9971E"/>
            </a:solidFill>
            <a:prstDash val="solid"/>
            <a:tailEnd type="triangle"/>
          </a:ln>
        </p:spPr>
      </p:sp>
      <p:sp>
        <p:nvSpPr>
          <p:cNvPr id="56" name="Shape 40"/>
          <p:cNvSpPr/>
          <p:nvPr/>
        </p:nvSpPr>
        <p:spPr>
          <a:xfrm>
            <a:off x="2566085" y="4645550"/>
            <a:ext cx="6688836" cy="914"/>
          </a:xfrm>
          <a:prstGeom prst="line">
            <a:avLst/>
          </a:prstGeom>
          <a:noFill/>
          <a:ln w="28575">
            <a:solidFill>
              <a:srgbClr val="C9971E"/>
            </a:solidFill>
            <a:prstDash val="solid"/>
            <a:tailEnd type="triangle"/>
          </a:ln>
        </p:spPr>
      </p:sp>
      <p:sp>
        <p:nvSpPr>
          <p:cNvPr id="57" name="Text 0"/>
          <p:cNvSpPr/>
          <p:nvPr/>
        </p:nvSpPr>
        <p:spPr>
          <a:xfrm>
            <a:off x="205740" y="-13491"/>
            <a:ext cx="8909749" cy="431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kern="0" spc="15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EXECUTION NODE GRAPH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8" name="Text 1"/>
          <p:cNvSpPr/>
          <p:nvPr/>
        </p:nvSpPr>
        <p:spPr>
          <a:xfrm>
            <a:off x="160020" y="30119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CC"/>
                </a:solidFill>
                <a:latin typeface="Book Antiqua" panose="02040602050305030304" pitchFamily="18" charset="0"/>
                <a:ea typeface="Georgia" pitchFamily="34" charset="-122"/>
                <a:cs typeface="Georgia" pitchFamily="34" charset="-120"/>
              </a:rPr>
              <a:t>Question Paper Setting Coordinator and Its Agents</a:t>
            </a:r>
          </a:p>
        </p:txBody>
      </p:sp>
    </p:spTree>
    <p:extLst>
      <p:ext uri="{BB962C8B-B14F-4D97-AF65-F5344CB8AC3E}">
        <p14:creationId xmlns:p14="http://schemas.microsoft.com/office/powerpoint/2010/main" val="872168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28600" y="11481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is loaded once and updated periodically; the criteria set is the only new input faculty give per paper request.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892808"/>
            <a:ext cx="544068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93976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3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 Data Model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496312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ID — unique, stable, traceable across semesters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Chapter and full question text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level (L1–L3), consistently mapped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value and question type (MCQ, short, long, etc.)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/ PO mapping (optional)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 / key points, for the valuation scheme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history — semesters/sets already used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63640" y="1892808"/>
            <a:ext cx="5440680" cy="4526280"/>
          </a:xfrm>
          <a:prstGeom prst="roundRect">
            <a:avLst>
              <a:gd name="adj" fmla="val 1414"/>
            </a:avLst>
          </a:prstGeom>
          <a:solidFill>
            <a:srgbClr val="E6F5F3"/>
          </a:solidFill>
          <a:ln w="12700">
            <a:solidFill>
              <a:srgbClr val="C7E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93976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Schema (per paper)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496312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code, total marks, and duration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sets (e.g., Set A, Set B)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Unit-wise weightage and Bloom's-level distribution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Question-type mix (MCQ, short, long, etc.)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 (questions used since a given date)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band (e.g., ±5% deviation)</a:t>
            </a:r>
            <a:endParaRPr lang="en-US" dirty="0"/>
          </a:p>
          <a:p>
            <a:pPr marL="203200" indent="-203200">
              <a:lnSpc>
                <a:spcPct val="116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requirements — paper + scheme of valuation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82880" y="85957"/>
            <a:ext cx="11704320" cy="863329"/>
            <a:chOff x="182880" y="85957"/>
            <a:chExt cx="11704320" cy="863329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228600" y="929307"/>
              <a:ext cx="11658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82784" y="140073"/>
              <a:ext cx="704416" cy="693410"/>
            </a:xfrm>
            <a:prstGeom prst="rect">
              <a:avLst/>
            </a:prstGeom>
          </p:spPr>
        </p:pic>
        <p:sp>
          <p:nvSpPr>
            <p:cNvPr id="16" name="Text 0"/>
            <p:cNvSpPr/>
            <p:nvPr/>
          </p:nvSpPr>
          <p:spPr>
            <a:xfrm>
              <a:off x="228600" y="85957"/>
              <a:ext cx="8909749" cy="4316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kern="0" spc="150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INPUTS THE AGENT RELIES ON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7" name="Text 1"/>
            <p:cNvSpPr/>
            <p:nvPr/>
          </p:nvSpPr>
          <p:spPr>
            <a:xfrm>
              <a:off x="182880" y="400646"/>
              <a:ext cx="112471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solidFill>
                    <a:srgbClr val="0033CC"/>
                  </a:solidFill>
                  <a:latin typeface="Book Antiqua" panose="02040602050305030304" pitchFamily="18" charset="0"/>
                  <a:ea typeface="Georgia" pitchFamily="34" charset="-122"/>
                  <a:cs typeface="Georgia" pitchFamily="34" charset="-120"/>
                </a:rPr>
                <a:t>Question Bank &amp; Criteria Schema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5845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691640"/>
            <a:ext cx="5440680" cy="4483129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16471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3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Workflow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295144"/>
            <a:ext cx="516636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uploads/updates the tagged question bank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specifies criteria — marks, sets, weightage, Bloom mix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Intake Agent validates the bank and flags gaps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Format agents build each requested set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Enrichment Agent proposes flagged extra questions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 checks distribution against tolerance</a:t>
            </a:r>
            <a:endParaRPr lang="en-US" dirty="0"/>
          </a:p>
          <a:p>
            <a:pPr marL="203200" indent="-2032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approves; Export Agent finalizes DOCX/PDF and logs usage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40680" cy="4483129"/>
          </a:xfrm>
          <a:prstGeom prst="roundRect">
            <a:avLst>
              <a:gd name="adj" fmla="val 1414"/>
            </a:avLst>
          </a:prstGeom>
          <a:solidFill>
            <a:srgbClr val="EFECFB"/>
          </a:solidFill>
          <a:ln w="12700">
            <a:solidFill>
              <a:srgbClr val="D7D1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30854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3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 (in order)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295144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Coordinator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Bank Intake Agent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Criteria Intake Agent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Selection / Composition Agent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Format &amp; Template Agent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Research &amp; Enrichment Agent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Validation / Audit Agent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Scheme of Valuation Agent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Faculty Review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Export &amp; Logging Agent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82880" y="85957"/>
            <a:ext cx="11704320" cy="863329"/>
            <a:chOff x="182880" y="85957"/>
            <a:chExt cx="11704320" cy="863329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28600" y="929307"/>
              <a:ext cx="11658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82784" y="140073"/>
              <a:ext cx="704416" cy="693410"/>
            </a:xfrm>
            <a:prstGeom prst="rect">
              <a:avLst/>
            </a:prstGeom>
          </p:spPr>
        </p:pic>
        <p:sp>
          <p:nvSpPr>
            <p:cNvPr id="15" name="Text 0"/>
            <p:cNvSpPr/>
            <p:nvPr/>
          </p:nvSpPr>
          <p:spPr>
            <a:xfrm>
              <a:off x="228600" y="85957"/>
              <a:ext cx="8909749" cy="4316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kern="0" spc="150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A PAPER GETS BUILT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6" name="Text 1"/>
            <p:cNvSpPr/>
            <p:nvPr/>
          </p:nvSpPr>
          <p:spPr>
            <a:xfrm>
              <a:off x="182880" y="400646"/>
              <a:ext cx="112471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solidFill>
                    <a:srgbClr val="0033CC"/>
                  </a:solidFill>
                  <a:latin typeface="Book Antiqua" panose="02040602050305030304" pitchFamily="18" charset="0"/>
                  <a:ea typeface="Georgia" pitchFamily="34" charset="-122"/>
                  <a:cs typeface="Georgia" pitchFamily="34" charset="-120"/>
                </a:rPr>
                <a:t>Work flow Agent Pipeline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281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1691640"/>
            <a:ext cx="5440680" cy="4526280"/>
          </a:xfrm>
          <a:prstGeom prst="roundRect">
            <a:avLst>
              <a:gd name="adj" fmla="val 1414"/>
            </a:avLst>
          </a:prstGeom>
          <a:solidFill>
            <a:srgbClr val="FCEEEC"/>
          </a:solidFill>
          <a:ln w="12700">
            <a:solidFill>
              <a:srgbClr val="F1D3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9280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1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Guardrails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295144"/>
            <a:ext cx="516636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release a paper or scheme without faculty sign-off</a:t>
            </a:r>
            <a:endParaRPr lang="en-US" dirty="0"/>
          </a:p>
          <a:p>
            <a:pPr marL="203200" indent="-2032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report shortfalls — never silently relax a target</a:t>
            </a:r>
            <a:endParaRPr lang="en-US" dirty="0"/>
          </a:p>
          <a:p>
            <a:pPr marL="203200" indent="-2032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avoid duplicate question stems across sets</a:t>
            </a:r>
            <a:endParaRPr lang="en-US" dirty="0"/>
          </a:p>
          <a:p>
            <a:pPr marL="203200" indent="-2032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research-sourced questions as external, pending approval</a:t>
            </a:r>
            <a:endParaRPr lang="en-US" dirty="0"/>
          </a:p>
          <a:p>
            <a:pPr marL="203200" indent="-203200">
              <a:lnSpc>
                <a:spcPct val="118000"/>
              </a:lnSpc>
              <a:buSzPct val="100000"/>
              <a:buChar char="•"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papers confidential; lock exports until release date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40680" cy="4526280"/>
          </a:xfrm>
          <a:prstGeom prst="roundRect">
            <a:avLst>
              <a:gd name="adj" fmla="val 1414"/>
            </a:avLst>
          </a:prstGeom>
          <a:solidFill>
            <a:srgbClr val="E6F5F3"/>
          </a:solidFill>
          <a:ln w="12700">
            <a:solidFill>
              <a:srgbClr val="C7E8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9280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Roadmap — 7 Phases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295144"/>
            <a:ext cx="516636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Bank ingestion &amp; tagging check</a:t>
            </a:r>
            <a:endParaRPr lang="en-US" dirty="0"/>
          </a:p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Single-set paper generation</a:t>
            </a:r>
            <a:endParaRPr lang="en-US" dirty="0"/>
          </a:p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Multi-set generation (duplicate avoidance)</a:t>
            </a:r>
            <a:endParaRPr lang="en-US" dirty="0"/>
          </a:p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Scheme of valuation drafting</a:t>
            </a:r>
            <a:endParaRPr lang="en-US" dirty="0"/>
          </a:p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Research-based question enrichment</a:t>
            </a:r>
            <a:endParaRPr lang="en-US" dirty="0"/>
          </a:p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Dashboard &amp; usage history</a:t>
            </a:r>
            <a:endParaRPr lang="en-US" dirty="0"/>
          </a:p>
          <a:p>
            <a:pPr marL="0" indent="0">
              <a:lnSpc>
                <a:spcPct val="122000"/>
              </a:lnSpc>
              <a:buNone/>
            </a:pPr>
            <a:r>
              <a:rPr lang="en-US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Institution-wide rollout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82880" y="85957"/>
            <a:ext cx="11704320" cy="863329"/>
            <a:chOff x="182880" y="85957"/>
            <a:chExt cx="11704320" cy="863329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28600" y="929307"/>
              <a:ext cx="11658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82784" y="140073"/>
              <a:ext cx="704416" cy="693410"/>
            </a:xfrm>
            <a:prstGeom prst="rect">
              <a:avLst/>
            </a:prstGeom>
          </p:spPr>
        </p:pic>
        <p:sp>
          <p:nvSpPr>
            <p:cNvPr id="15" name="Text 0"/>
            <p:cNvSpPr/>
            <p:nvPr/>
          </p:nvSpPr>
          <p:spPr>
            <a:xfrm>
              <a:off x="228600" y="85957"/>
              <a:ext cx="8909749" cy="4316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kern="0" spc="150" dirty="0">
                  <a:solidFill>
                    <a:schemeClr val="accent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MAKING IT SAFE  BUILDABLE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6" name="Text 1"/>
            <p:cNvSpPr/>
            <p:nvPr/>
          </p:nvSpPr>
          <p:spPr>
            <a:xfrm>
              <a:off x="182880" y="400646"/>
              <a:ext cx="112471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400" b="1" dirty="0">
                  <a:solidFill>
                    <a:srgbClr val="0033CC"/>
                  </a:solidFill>
                  <a:latin typeface="Book Antiqua" panose="02040602050305030304" pitchFamily="18" charset="0"/>
                  <a:ea typeface="Georgia" pitchFamily="34" charset="-122"/>
                  <a:cs typeface="Georgia" pitchFamily="34" charset="-120"/>
                </a:rPr>
                <a:t>Guardrails, Roadmap and Architecture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1965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19565" y="3564146"/>
            <a:ext cx="542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Thank You…</a:t>
            </a:r>
            <a:endParaRPr lang="en-IN" sz="60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48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419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2856</Words>
  <Application>Microsoft Office PowerPoint</Application>
  <PresentationFormat>Widescreen</PresentationFormat>
  <Paragraphs>544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Book Antiqua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Priyanka Patil</cp:lastModifiedBy>
  <cp:revision>88</cp:revision>
  <dcterms:created xsi:type="dcterms:W3CDTF">2026-07-19T06:15:55Z</dcterms:created>
  <dcterms:modified xsi:type="dcterms:W3CDTF">2026-09-29T16:01:37Z</dcterms:modified>
</cp:coreProperties>
</file>